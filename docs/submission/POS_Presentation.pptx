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5d95e3853e4989" /><Relationship Type="http://schemas.openxmlformats.org/officeDocument/2006/relationships/extended-properties" Target="/docProps/app.xml" Id="Rc6dc3eaa62b64727" /><Relationship Type="http://schemas.openxmlformats.org/officeDocument/2006/relationships/officeDocument" Target="/ppt/presentation.xml" Id="Rcd12bb07a0d648a6" /></Relationships>
</file>

<file path=ppt/presentation.xml><?xml version="1.0" encoding="utf-8"?>
<p:presentation xmlns:p="http://schemas.openxmlformats.org/presentationml/2006/main">
  <p:sldMasterIdLst>
    <p:sldMasterId xmlns:r="http://schemas.openxmlformats.org/officeDocument/2006/relationships" id="2147483648" r:id="R77020b807e5c48c8"/>
  </p:sldMasterIdLst>
  <p:notesMasterIdLst>
    <p:notesMasterId xmlns:r="http://schemas.openxmlformats.org/officeDocument/2006/relationships" r:id="R91582f218b634977"/>
  </p:notesMasterIdLst>
  <p:sldIdLst>
    <p:sldId xmlns:r="http://schemas.openxmlformats.org/officeDocument/2006/relationships" id="256" r:id="R2972b86fdb8b499d"/>
    <p:sldId xmlns:r="http://schemas.openxmlformats.org/officeDocument/2006/relationships" id="257" r:id="Rc9ad49ac790246bd"/>
    <p:sldId xmlns:r="http://schemas.openxmlformats.org/officeDocument/2006/relationships" id="258" r:id="R4912cb8d1e554a15"/>
    <p:sldId xmlns:r="http://schemas.openxmlformats.org/officeDocument/2006/relationships" id="259" r:id="R9f080a7ed56d4401"/>
    <p:sldId xmlns:r="http://schemas.openxmlformats.org/officeDocument/2006/relationships" id="260" r:id="Rdf0b479a95c14e1d"/>
    <p:sldId xmlns:r="http://schemas.openxmlformats.org/officeDocument/2006/relationships" id="261" r:id="R4c3c0824e921457e"/>
    <p:sldId xmlns:r="http://schemas.openxmlformats.org/officeDocument/2006/relationships" id="262" r:id="R98bd5a0c845a4e92"/>
    <p:sldId xmlns:r="http://schemas.openxmlformats.org/officeDocument/2006/relationships" id="263" r:id="R01d5d7bb5a7742da"/>
    <p:sldId xmlns:r="http://schemas.openxmlformats.org/officeDocument/2006/relationships" id="264" r:id="Raf18eabea03b4ab2"/>
    <p:sldId xmlns:r="http://schemas.openxmlformats.org/officeDocument/2006/relationships" id="265" r:id="R6e6aa35ca5164a2c"/>
    <p:sldId xmlns:r="http://schemas.openxmlformats.org/officeDocument/2006/relationships" id="266" r:id="R420db3fcb60d4b55"/>
    <p:sldId xmlns:r="http://schemas.openxmlformats.org/officeDocument/2006/relationships" id="267" r:id="Refce149527e74d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093d75a91540b6" /><Relationship Type="http://schemas.openxmlformats.org/officeDocument/2006/relationships/slideMaster" Target="/ppt/slideMasters/slideMaster1.xml" Id="R77020b807e5c48c8" /><Relationship Type="http://schemas.openxmlformats.org/officeDocument/2006/relationships/notesMaster" Target="/ppt/notesMasters/notesMaster1.xml" Id="R91582f218b634977" /><Relationship Type="http://schemas.openxmlformats.org/officeDocument/2006/relationships/presProps" Target="/ppt/presProps.xml" Id="Rf07b7c1b18c64c74" /><Relationship Type="http://schemas.openxmlformats.org/officeDocument/2006/relationships/tableStyles" Target="/ppt/tableStyles.xml" Id="Re4c70bf130b2402a" /><Relationship Type="http://schemas.openxmlformats.org/officeDocument/2006/relationships/slide" Target="/ppt/slides/slide1.xml" Id="R2972b86fdb8b499d" /><Relationship Type="http://schemas.openxmlformats.org/officeDocument/2006/relationships/slide" Target="/ppt/slides/slide2.xml" Id="Rc9ad49ac790246bd" /><Relationship Type="http://schemas.openxmlformats.org/officeDocument/2006/relationships/slide" Target="/ppt/slides/slide3.xml" Id="R4912cb8d1e554a15" /><Relationship Type="http://schemas.openxmlformats.org/officeDocument/2006/relationships/slide" Target="/ppt/slides/slide4.xml" Id="R9f080a7ed56d4401" /><Relationship Type="http://schemas.openxmlformats.org/officeDocument/2006/relationships/slide" Target="/ppt/slides/slide5.xml" Id="Rdf0b479a95c14e1d" /><Relationship Type="http://schemas.openxmlformats.org/officeDocument/2006/relationships/slide" Target="/ppt/slides/slide6.xml" Id="R4c3c0824e921457e" /><Relationship Type="http://schemas.openxmlformats.org/officeDocument/2006/relationships/slide" Target="/ppt/slides/slide7.xml" Id="R98bd5a0c845a4e92" /><Relationship Type="http://schemas.openxmlformats.org/officeDocument/2006/relationships/slide" Target="/ppt/slides/slide8.xml" Id="R01d5d7bb5a7742da" /><Relationship Type="http://schemas.openxmlformats.org/officeDocument/2006/relationships/slide" Target="/ppt/slides/slide9.xml" Id="Raf18eabea03b4ab2" /><Relationship Type="http://schemas.openxmlformats.org/officeDocument/2006/relationships/slide" Target="/ppt/slides/slide10.xml" Id="R6e6aa35ca5164a2c" /><Relationship Type="http://schemas.openxmlformats.org/officeDocument/2006/relationships/slide" Target="/ppt/slides/slide11.xml" Id="R420db3fcb60d4b55" /><Relationship Type="http://schemas.openxmlformats.org/officeDocument/2006/relationships/slide" Target="/ppt/slides/slide12.xml" Id="Refce149527e74d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2d6e5334004e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fcb6495afb4a34" /><Relationship Type="http://schemas.openxmlformats.org/officeDocument/2006/relationships/notesMaster" Target="/ppt/notesMasters/notesMaster1.xml" Id="R2fd78cdd87aa4e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10250000a94dff" /><Relationship Type="http://schemas.openxmlformats.org/officeDocument/2006/relationships/notesMaster" Target="/ppt/notesMasters/notesMaster1.xml" Id="Rb3a9749725c240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cff4461a1b47c0" /><Relationship Type="http://schemas.openxmlformats.org/officeDocument/2006/relationships/notesMaster" Target="/ppt/notesMasters/notesMaster1.xml" Id="R61897371da5d49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605d3604d4460f" /><Relationship Type="http://schemas.openxmlformats.org/officeDocument/2006/relationships/notesMaster" Target="/ppt/notesMasters/notesMaster1.xml" Id="R7173b4db7b6c4d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3d4f7a8d6e4644" /><Relationship Type="http://schemas.openxmlformats.org/officeDocument/2006/relationships/notesMaster" Target="/ppt/notesMasters/notesMaster1.xml" Id="Rd025f012030140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06fe159cf045bb" /><Relationship Type="http://schemas.openxmlformats.org/officeDocument/2006/relationships/notesMaster" Target="/ppt/notesMasters/notesMaster1.xml" Id="R7885dd4e779540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c476513d404543" /><Relationship Type="http://schemas.openxmlformats.org/officeDocument/2006/relationships/notesMaster" Target="/ppt/notesMasters/notesMaster1.xml" Id="Rf0c029ea0d8846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5e85c69e534b19" /><Relationship Type="http://schemas.openxmlformats.org/officeDocument/2006/relationships/notesMaster" Target="/ppt/notesMasters/notesMaster1.xml" Id="R8ead8a98e17e48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614a68478841dc" /><Relationship Type="http://schemas.openxmlformats.org/officeDocument/2006/relationships/notesMaster" Target="/ppt/notesMasters/notesMaster1.xml" Id="Rd0c795a5154544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d136baba234d50" /><Relationship Type="http://schemas.openxmlformats.org/officeDocument/2006/relationships/notesMaster" Target="/ppt/notesMasters/notesMaster1.xml" Id="R5f860653354543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0298c47a994dc9" /><Relationship Type="http://schemas.openxmlformats.org/officeDocument/2006/relationships/notesMaster" Target="/ppt/notesMasters/notesMaster1.xml" Id="Rb4885e2b6ddf43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918caa952d4b54" /><Relationship Type="http://schemas.openxmlformats.org/officeDocument/2006/relationships/notesMaster" Target="/ppt/notesMasters/notesMaster1.xml" Id="Rbdce8cf9d12f4b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my name is Taoliyuan. This individual project implements a small supermarket POS system. I will explain the Agile plan and object-oriented design, then demonstrate Process Sale and Handle Returns.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actor is the cashier. Customers participate through the cashier. The version handles cash, tax-inclusive EUR prices and returnable goods suitable for resale. The written use cases document success and error paths. Source: supplied assignment and Larman, Applying UML and Patterns, 3rd ed., Chapter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uses three three-day timeboxes, adapted for one person. Sprint 1 covers sale and inventory, Sprint 2 covers returns and history, and Sprint 3 covers deliverables and publication. The ideal daily plan is separate from real checkpoints. At the first verification checkpoint 31 of 39 story points had evidence. Do not describe this as multiple elapsed sprints.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Sale contains SaleLines. Each line points to a Product and stores the unit price at purchase. Returns refer to the original sale and its lines. The full report includes the conceptual model and multiplicities. Source: Larman, Chapters 9 and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manages draft input. The application layer coordinates use cases. Domain values calculate exact amounts, and the repository controls transactions. The service receives a repository through its constructor. Source: Larman, Chapter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POSService applies the Controller pattern. SaleLine and Sale are Information Experts for amounts. CashPayment validates tender and change. The repository controls connection and transaction lifetime. Source: Larman, Chapters 17 and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live application. Add two milk units and one bread. Try five euros first: insufficient cash should fail. Then enter ten euros and complete. Show the generated receipt and the one euro eighty change. The screenshot is from the real application 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Returns. Find the receipt. Select one milk unit and enter an unopened-item reason. Confirm the cash refund. Show that only one milk unit remains returnable. Try returning two more units and explain the rejection.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service enters BEGIN IMMEDIATE before reading current stock or returnable quantities. All receipt and stock writes commit together. An error rolls back everything. Matching request tokens return the same result on retry.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suite passed 22 tests. Explain the business risks those tests cover. They include rollback, retry and concurrent requests, not just successful arithmetic. Browser evidence demonstrates checkout, return and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Transactions in the application. The demonstrated sale is eight euros twenty. One milk refund is two euros fifty, leaving net sales of five euros seventy. The lists show the latest 100 records while summary totals include all transactions.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repository includes code, tests and UML. The report and workbook explain planning and traceability. The next steps are student review, English recording and publishing the final video URL. Future extensions could include authenticated cashiers, damaged-goods handling and printer integration. AI assisted code and document preparation; the student is responsible for reviewing and explaining the work.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bdac5af29442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14ea2e1ed64d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53267f44d849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e7d6e3f3ec4b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3da6bb26514c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98f4cdc86f45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5F5595-E46E-4A61-A53C-E0241006951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4AD0EF-8A96-4DE4-8C78-81D3E841B2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9E2FC56-758D-4324-9711-092B5CE72F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7D61E7-3FF0-48DB-93D9-79E60BDCF7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766831-B2C0-402B-B13B-78541D2FA9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F2EC8F-2231-42B8-B2D1-D8C20C579B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8C9DA5-C15B-42CF-903B-9215F10D59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1E64E9-A304-4F21-88C8-D424634CD78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1CE694-919D-40E9-A4B1-5662246AC3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D23515-DF4A-490A-A21C-0B8C1C5CF82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ff149f0fa74ba6" /><Relationship Type="http://schemas.openxmlformats.org/officeDocument/2006/relationships/slideLayout" Target="/ppt/slideLayouts/slideLayout1.xml" Id="R603bc15e8dca49e7" /><Relationship Type="http://schemas.openxmlformats.org/officeDocument/2006/relationships/slideLayout" Target="/ppt/slideLayouts/slideLayout2.xml" Id="Rde8abab037d341a8" /><Relationship Type="http://schemas.openxmlformats.org/officeDocument/2006/relationships/slideLayout" Target="/ppt/slideLayouts/slideLayout3.xml" Id="R7817b0f8bc044774" /><Relationship Type="http://schemas.openxmlformats.org/officeDocument/2006/relationships/slideLayout" Target="/ppt/slideLayouts/slideLayout4.xml" Id="R7941a303d10544c9" /><Relationship Type="http://schemas.openxmlformats.org/officeDocument/2006/relationships/slideLayout" Target="/ppt/slideLayouts/slideLayout5.xml" Id="Ra3bbee38a7f74293" /><Relationship Type="http://schemas.openxmlformats.org/officeDocument/2006/relationships/slideLayout" Target="/ppt/slideLayouts/slideLayout6.xml" Id="R15d25da9e7b849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3bc15e8dca49e7"/>
    <p:sldLayoutId xmlns:r="http://schemas.openxmlformats.org/officeDocument/2006/relationships" id="2147483650" r:id="Rde8abab037d341a8"/>
    <p:sldLayoutId xmlns:r="http://schemas.openxmlformats.org/officeDocument/2006/relationships" id="2147483651" r:id="R7817b0f8bc044774"/>
    <p:sldLayoutId xmlns:r="http://schemas.openxmlformats.org/officeDocument/2006/relationships" id="2147483652" r:id="R7941a303d10544c9"/>
    <p:sldLayoutId xmlns:r="http://schemas.openxmlformats.org/officeDocument/2006/relationships" id="2147483653" r:id="Ra3bbee38a7f74293"/>
    <p:sldLayoutId xmlns:r="http://schemas.openxmlformats.org/officeDocument/2006/relationships" id="2147483654" r:id="R15d25da9e7b849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67b8e744934e16" /><Relationship Type="http://schemas.openxmlformats.org/officeDocument/2006/relationships/notesSlide" Target="/ppt/notesSlides/notesSlide1.xml" Id="Re4c1e7cbec9c46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1d4ccb0ece4436" /><Relationship Type="http://schemas.openxmlformats.org/officeDocument/2006/relationships/notesSlide" Target="/ppt/notesSlides/notesSlide2.xml" Id="R9e02ed29e3c24a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7c38be14b847e2" /><Relationship Type="http://schemas.openxmlformats.org/officeDocument/2006/relationships/chart" Target="/ppt/slides/charts/chart1.xml" Id="Rcf6de08c83be448e" /><Relationship Type="http://schemas.openxmlformats.org/officeDocument/2006/relationships/notesSlide" Target="/ppt/notesSlides/notesSlide3.xml" Id="Rf0bac0d0bcba48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56e340529cd4393" /><Relationship Type="http://schemas.openxmlformats.org/officeDocument/2006/relationships/notesSlide" Target="/ppt/notesSlides/notesSlide4.xml" Id="Rb1b386239e1346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1bea4dfadc4025" /><Relationship Type="http://schemas.openxmlformats.org/officeDocument/2006/relationships/notesSlide" Target="/ppt/notesSlides/notesSlide5.xml" Id="Re16d49a2b19c44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c97ab415e84905" /><Relationship Type="http://schemas.openxmlformats.org/officeDocument/2006/relationships/notesSlide" Target="/ppt/notesSlides/notesSlide6.xml" Id="Rb993f984650045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6aa0cce56d433f" /><Relationship Type="http://schemas.openxmlformats.org/officeDocument/2006/relationships/image" Target="/ppt/media/image.jpeg" Id="R76db7fb63c734d71" /><Relationship Type="http://schemas.openxmlformats.org/officeDocument/2006/relationships/notesSlide" Target="/ppt/notesSlides/notesSlide7.xml" Id="R5161f1aa11e943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337bd8b68f4019" /><Relationship Type="http://schemas.openxmlformats.org/officeDocument/2006/relationships/image" Target="/ppt/media/image2.jpeg" Id="R43244bedb9f6451c" /><Relationship Type="http://schemas.openxmlformats.org/officeDocument/2006/relationships/notesSlide" Target="/ppt/notesSlides/notesSlide8.xml" Id="R6e61ba9191a94e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46c1e944df34094" /><Relationship Type="http://schemas.openxmlformats.org/officeDocument/2006/relationships/notesSlide" Target="/ppt/notesSlides/notesSlide9.xml" Id="Ra06b8f7bd15b44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5aa9e14ed0c43fc" /><Relationship Type="http://schemas.openxmlformats.org/officeDocument/2006/relationships/notesSlide" Target="/ppt/notesSlides/notesSlide10.xml" Id="R5e519e1d944244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16fc7971e9e47b7" /><Relationship Type="http://schemas.openxmlformats.org/officeDocument/2006/relationships/image" Target="/ppt/media/image3.jpeg" Id="Raa1f3dcf0e21404d" /><Relationship Type="http://schemas.openxmlformats.org/officeDocument/2006/relationships/notesSlide" Target="/ppt/notesSlides/notesSlide11.xml" Id="Rf3946f8e3b8f45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143d3785c814394" /><Relationship Type="http://schemas.openxmlformats.org/officeDocument/2006/relationships/notesSlide" Target="/ppt/notesSlides/notesSlide12.xml" Id="R76beee151f0f443c" /></Relationships>
</file>

<file path=ppt/slides/charts/chart1.xml><?xml version="1.0" encoding="utf-8"?>
<c:chartSpace xmlns:c="http://schemas.openxmlformats.org/drawingml/2006/chart">
  <c:lang val="en-US"/>
  <c:chart>
    <c:plotArea>
      <c:lineChart>
        <c:grouping val="standard"/>
        <c:varyColors val="0"/>
        <c:ser>
          <c:idx val="0"/>
          <c:order val="0"/>
          <c:tx>
            <c:v>Remaining points</c:v>
          </c:tx>
          <c:spPr>
            <a:solidFill xmlns:a="http://schemas.openxmlformats.org/drawingml/2006/main">
              <a:srgbClr val="17634E"/>
            </a:solidFill>
          </c:spPr>
          <c:marker>
            <c:symbol val="none"/>
          </c:marker>
          <c:cat>
            <c:strLit>
              <c:ptCount val="3"/>
              <c:pt idx="0">
                <c:v>Plan</c:v>
              </c:pt>
              <c:pt idx="1">
                <c:v>Implemented</c:v>
              </c:pt>
              <c:pt idx="2">
                <c:v>Verified</c:v>
              </c:pt>
            </c:strLit>
          </c:cat>
          <c:val>
            <c:numLit>
              <c:formatCode>General</c:formatCode>
              <c:ptCount val="3"/>
              <c:pt idx="0">
                <c:v>39</c:v>
              </c:pt>
              <c:pt idx="1">
                <c:v>39</c:v>
              </c:pt>
              <c:pt idx="2">
                <c:v>8</c:v>
              </c:pt>
            </c:numLit>
          </c:val>
          <c:smooth val="0"/>
        </c:ser>
        <c:dLbls>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DA88D2-5786-44A9-93C3-9B9877065851}"/>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Market POS</a:t>
            </a:r>
          </a:p>
        </p:txBody>
      </p:sp>
      <p:sp>
        <p:nvSpPr>
          <p:cNvPr id="2" name="">
            <a:extLst xmlns:a="http://schemas.openxmlformats.org/drawingml/2006/main">
              <a:ext uri="{FF2B5EF4-FFF2-40B4-BE49-F238E27FC236}">
                <a16:creationId xmlns:a16="http://schemas.microsoft.com/office/drawing/2014/main" id="{CA694D3A-3C4C-432B-8240-A879DD0550AA}"/>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1CE8C252-DDC2-408F-BAAA-EA273FE634C9}"/>
              </a:ext>
            </a:extLst>
          </p:cNvPr>
          <p:cNvSpPr>
            <a:spLocks xmlns:a="http://schemas.openxmlformats.org/drawingml/2006/main" noGrp="1"/>
          </p:cNvSpPr>
          <p:nvPr/>
        </p:nvSpPr>
        <p:spPr>
          <a:xfrm xmlns:a="http://schemas.openxmlformats.org/drawingml/2006/main">
            <a:off x="609600" y="1714500"/>
            <a:ext cx="971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82F"/>
                </a:solidFill>
                <a:latin typeface="Arial"/>
                <a:ea typeface="Arial"/>
                <a:cs typeface="Arial"/>
              </a:defRPr>
            </a:defPPr>
          </a:lstStyle>
          <a:p xmlns:a="http://schemas.openxmlformats.org/drawingml/2006/main">
            <a:pPr>
              <a:defRPr sz="3225" b="1">
                <a:solidFill>
                  <a:srgbClr val="18382F"/>
                </a:solidFill>
                <a:latin typeface="Arial"/>
                <a:ea typeface="Arial"/>
                <a:cs typeface="Arial"/>
              </a:defRPr>
            </a:pPr>
            <a:r>
              <a:rPr sz="3225" b="1">
                <a:solidFill>
                  <a:srgbClr val="18382F"/>
                </a:solidFill>
                <a:latin typeface="Arial"/>
                <a:ea typeface="Arial"/>
                <a:cs typeface="Arial"/>
              </a:rPr>
              <a:t>Analysis and design of a supermarket</a:t>
            </a:r>
          </a:p>
          <a:p xmlns:a="http://schemas.openxmlformats.org/drawingml/2006/main">
            <a:pPr>
              <a:defRPr sz="3225" b="1">
                <a:solidFill>
                  <a:srgbClr val="18382F"/>
                </a:solidFill>
                <a:latin typeface="Arial"/>
                <a:ea typeface="Arial"/>
                <a:cs typeface="Arial"/>
              </a:defRPr>
            </a:pPr>
            <a:r>
              <a:rPr sz="3225" b="1">
                <a:solidFill>
                  <a:srgbClr val="18382F"/>
                </a:solidFill>
                <a:latin typeface="Arial"/>
                <a:ea typeface="Arial"/>
                <a:cs typeface="Arial"/>
              </a:rPr>
              <a:t>point-of-sale system</a:t>
            </a:r>
          </a:p>
        </p:txBody>
      </p:sp>
      <p:sp>
        <p:nvSpPr>
          <p:cNvPr id="4" name="">
            <a:extLst xmlns:a="http://schemas.openxmlformats.org/drawingml/2006/main">
              <a:ext uri="{FF2B5EF4-FFF2-40B4-BE49-F238E27FC236}">
                <a16:creationId xmlns:a16="http://schemas.microsoft.com/office/drawing/2014/main" id="{5954F8AA-5A92-4817-96BC-7B4175AA47D0}"/>
              </a:ext>
            </a:extLst>
          </p:cNvPr>
          <p:cNvSpPr>
            <a:spLocks xmlns:a="http://schemas.openxmlformats.org/drawingml/2006/main" noGrp="1"/>
          </p:cNvSpPr>
          <p:nvPr/>
        </p:nvSpPr>
        <p:spPr>
          <a:xfrm xmlns:a="http://schemas.openxmlformats.org/drawingml/2006/main">
            <a:off x="609600" y="35242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7269"/>
                </a:solidFill>
                <a:latin typeface="Arial"/>
                <a:ea typeface="Arial"/>
                <a:cs typeface="Arial"/>
              </a:defRPr>
            </a:defPPr>
          </a:lstStyle>
          <a:p xmlns:a="http://schemas.openxmlformats.org/drawingml/2006/main">
            <a:pPr>
              <a:defRPr sz="2025" b="0">
                <a:solidFill>
                  <a:srgbClr val="607269"/>
                </a:solidFill>
                <a:latin typeface="Arial"/>
                <a:ea typeface="Arial"/>
                <a:cs typeface="Arial"/>
              </a:defRPr>
            </a:pPr>
            <a:r>
              <a:rPr sz="2025" b="0">
                <a:solidFill>
                  <a:srgbClr val="607269"/>
                </a:solidFill>
                <a:latin typeface="Arial"/>
                <a:ea typeface="Arial"/>
                <a:cs typeface="Arial"/>
              </a:rPr>
              <a:t>Software Engineering Practice</a:t>
            </a:r>
          </a:p>
        </p:txBody>
      </p:sp>
      <p:sp>
        <p:nvSpPr>
          <p:cNvPr id="5" name="">
            <a:extLst xmlns:a="http://schemas.openxmlformats.org/drawingml/2006/main">
              <a:ext uri="{FF2B5EF4-FFF2-40B4-BE49-F238E27FC236}">
                <a16:creationId xmlns:a16="http://schemas.microsoft.com/office/drawing/2014/main" id="{38C052E2-0E9B-4201-A045-F8F81939B6F8}"/>
              </a:ext>
            </a:extLst>
          </p:cNvPr>
          <p:cNvSpPr>
            <a:spLocks xmlns:a="http://schemas.openxmlformats.org/drawingml/2006/main" noGrp="1"/>
          </p:cNvSpPr>
          <p:nvPr/>
        </p:nvSpPr>
        <p:spPr>
          <a:xfrm xmlns:a="http://schemas.openxmlformats.org/drawingml/2006/main">
            <a:off x="609600" y="471487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82F"/>
                </a:solidFill>
                <a:latin typeface="Arial"/>
                <a:ea typeface="Arial"/>
                <a:cs typeface="Arial"/>
              </a:defRPr>
            </a:defPPr>
          </a:lstStyle>
          <a:p xmlns:a="http://schemas.openxmlformats.org/drawingml/2006/main">
            <a:pPr>
              <a:defRPr sz="1800" b="0">
                <a:solidFill>
                  <a:srgbClr val="18382F"/>
                </a:solidFill>
                <a:latin typeface="Arial"/>
                <a:ea typeface="Arial"/>
                <a:cs typeface="Arial"/>
              </a:defRPr>
            </a:pPr>
            <a:r>
              <a:rPr sz="1800" b="0">
                <a:solidFill>
                  <a:srgbClr val="18382F"/>
                </a:solidFill>
                <a:latin typeface="Arial"/>
                <a:ea typeface="Arial"/>
                <a:cs typeface="Arial"/>
              </a:rPr>
              <a:t>Taoliyuan</a:t>
            </a:r>
          </a:p>
          <a:p xmlns:a="http://schemas.openxmlformats.org/drawingml/2006/main">
            <a:pPr>
              <a:defRPr sz="1800" b="0">
                <a:solidFill>
                  <a:srgbClr val="18382F"/>
                </a:solidFill>
                <a:latin typeface="Arial"/>
                <a:ea typeface="Arial"/>
                <a:cs typeface="Arial"/>
              </a:defRPr>
            </a:pPr>
            <a:r>
              <a:rPr sz="1800" b="0">
                <a:solidFill>
                  <a:srgbClr val="18382F"/>
                </a:solidFill>
                <a:latin typeface="Arial"/>
                <a:ea typeface="Arial"/>
                <a:cs typeface="Arial"/>
              </a:rPr>
              <a:t>NUIST 202383890020   /   SETU 20109990</a:t>
            </a:r>
          </a:p>
        </p:txBody>
      </p:sp>
      <p:sp>
        <p:nvSpPr>
          <p:cNvPr id="6" name="">
            <a:extLst xmlns:a="http://schemas.openxmlformats.org/drawingml/2006/main">
              <a:ext uri="{FF2B5EF4-FFF2-40B4-BE49-F238E27FC236}">
                <a16:creationId xmlns:a16="http://schemas.microsoft.com/office/drawing/2014/main" id="{D618106B-06F1-41D0-A0B8-B5B185AA3FED}"/>
              </a:ext>
            </a:extLst>
          </p:cNvPr>
          <p:cNvSpPr>
            <a:spLocks xmlns:a="http://schemas.openxmlformats.org/drawingml/2006/main" noGrp="1"/>
          </p:cNvSpPr>
          <p:nvPr/>
        </p:nvSpPr>
        <p:spPr>
          <a:xfrm xmlns:a="http://schemas.openxmlformats.org/drawingml/2006/main">
            <a:off x="609600" y="58578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69"/>
                </a:solidFill>
                <a:latin typeface="Arial"/>
                <a:ea typeface="Arial"/>
                <a:cs typeface="Arial"/>
              </a:defRPr>
            </a:defPPr>
          </a:lstStyle>
          <a:p xmlns:a="http://schemas.openxmlformats.org/drawingml/2006/main">
            <a:pPr>
              <a:defRPr sz="1350" b="0">
                <a:solidFill>
                  <a:srgbClr val="607269"/>
                </a:solidFill>
                <a:latin typeface="Arial"/>
                <a:ea typeface="Arial"/>
                <a:cs typeface="Arial"/>
              </a:defRPr>
            </a:pPr>
            <a:r>
              <a:rPr sz="1350" b="0">
                <a:solidFill>
                  <a:srgbClr val="607269"/>
                </a:solidFill>
                <a:latin typeface="Arial"/>
                <a:ea typeface="Arial"/>
                <a:cs typeface="Arial"/>
              </a:rPr>
              <a:t>15 October 2026</a:t>
            </a:r>
          </a:p>
        </p:txBody>
      </p:sp>
    </p:spTree>
    <p:extLst>
      <p:ext uri="{BB962C8B-B14F-4D97-AF65-F5344CB8AC3E}">
        <p14:creationId xmlns:p14="http://schemas.microsoft.com/office/powerpoint/2010/main" val="430889996"/>
      </p:ext>
    </p:extLst>
  </p:cSld>
</p:sld>
</file>

<file path=ppt/slides/slide2.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11CEBB-7E45-43F4-836E-606AAEE53DEE}"/>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Two cashier workflows</a:t>
            </a:r>
          </a:p>
        </p:txBody>
      </p:sp>
      <p:sp>
        <p:nvSpPr>
          <p:cNvPr id="2" name="">
            <a:extLst xmlns:a="http://schemas.openxmlformats.org/drawingml/2006/main">
              <a:ext uri="{FF2B5EF4-FFF2-40B4-BE49-F238E27FC236}">
                <a16:creationId xmlns:a16="http://schemas.microsoft.com/office/drawing/2014/main" id="{928D5855-D120-4C62-85E0-014486E58873}"/>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0A9A969-561D-4988-BE06-7FF0EC18376B}"/>
              </a:ext>
            </a:extLst>
          </p:cNvPr>
          <p:cNvSpPr>
            <a:spLocks xmlns:a="http://schemas.openxmlformats.org/drawingml/2006/main" noGrp="1"/>
          </p:cNvSpPr>
          <p:nvPr/>
        </p:nvSpPr>
        <p:spPr>
          <a:xfrm xmlns:a="http://schemas.openxmlformats.org/drawingml/2006/main">
            <a:off x="609600" y="17145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382F"/>
                </a:solidFill>
                <a:latin typeface="Arial"/>
                <a:ea typeface="Arial"/>
                <a:cs typeface="Arial"/>
              </a:defRPr>
            </a:defPPr>
          </a:lstStyle>
          <a:p xmlns:a="http://schemas.openxmlformats.org/drawingml/2006/main">
            <a:pPr>
              <a:defRPr sz="2400" b="1">
                <a:solidFill>
                  <a:srgbClr val="18382F"/>
                </a:solidFill>
                <a:latin typeface="Arial"/>
                <a:ea typeface="Arial"/>
                <a:cs typeface="Arial"/>
              </a:defRPr>
            </a:pPr>
            <a:r>
              <a:rPr sz="2400" b="1">
                <a:solidFill>
                  <a:srgbClr val="18382F"/>
                </a:solidFill>
                <a:latin typeface="Arial"/>
                <a:ea typeface="Arial"/>
                <a:cs typeface="Arial"/>
              </a:rPr>
              <a:t>Process Sale</a:t>
            </a:r>
          </a:p>
        </p:txBody>
      </p:sp>
      <p:sp>
        <p:nvSpPr>
          <p:cNvPr id="4" name="">
            <a:extLst xmlns:a="http://schemas.openxmlformats.org/drawingml/2006/main">
              <a:ext uri="{FF2B5EF4-FFF2-40B4-BE49-F238E27FC236}">
                <a16:creationId xmlns:a16="http://schemas.microsoft.com/office/drawing/2014/main" id="{EC33BF98-BF9F-435C-ADBD-18D43EAB67D4}"/>
              </a:ext>
            </a:extLst>
          </p:cNvPr>
          <p:cNvSpPr>
            <a:spLocks xmlns:a="http://schemas.openxmlformats.org/drawingml/2006/main" noGrp="1"/>
          </p:cNvSpPr>
          <p:nvPr/>
        </p:nvSpPr>
        <p:spPr>
          <a:xfrm xmlns:a="http://schemas.openxmlformats.org/drawingml/2006/main">
            <a:off x="609600" y="2476500"/>
            <a:ext cx="5143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2F"/>
                </a:solidFill>
                <a:latin typeface="Arial"/>
                <a:ea typeface="Arial"/>
                <a:cs typeface="Arial"/>
              </a:defRPr>
            </a:defPPr>
          </a:lstStyle>
          <a:p xmlns:a="http://schemas.openxmlformats.org/drawingml/2006/main">
            <a:pPr>
              <a:defRPr sz="2175" b="0">
                <a:solidFill>
                  <a:srgbClr val="18382F"/>
                </a:solidFill>
                <a:latin typeface="Arial"/>
                <a:ea typeface="Arial"/>
                <a:cs typeface="Arial"/>
              </a:defRPr>
            </a:pPr>
            <a:r>
              <a:rPr sz="2175" b="0">
                <a:solidFill>
                  <a:srgbClr val="18382F"/>
                </a:solidFill>
                <a:latin typeface="Arial"/>
                <a:ea typeface="Arial"/>
                <a:cs typeface="Arial"/>
              </a:rPr>
              <a:t>Select products and quantities</a:t>
            </a:r>
          </a:p>
          <a:p xmlns:a="http://schemas.openxmlformats.org/drawingml/2006/main">
            <a:pPr>
              <a:defRPr sz="2175" b="0">
                <a:solidFill>
                  <a:srgbClr val="18382F"/>
                </a:solidFill>
                <a:latin typeface="Arial"/>
                <a:ea typeface="Arial"/>
                <a:cs typeface="Arial"/>
              </a:defRPr>
            </a:pPr>
            <a:r>
              <a:rPr sz="2175" b="0">
                <a:solidFill>
                  <a:srgbClr val="18382F"/>
                </a:solidFill>
                <a:latin typeface="Arial"/>
                <a:ea typeface="Arial"/>
                <a:cs typeface="Arial"/>
              </a:rPr>
              <a:t>Validate cash and calculate change</a:t>
            </a:r>
          </a:p>
          <a:p xmlns:a="http://schemas.openxmlformats.org/drawingml/2006/main">
            <a:pPr>
              <a:defRPr sz="2175" b="0">
                <a:solidFill>
                  <a:srgbClr val="18382F"/>
                </a:solidFill>
                <a:latin typeface="Arial"/>
                <a:ea typeface="Arial"/>
                <a:cs typeface="Arial"/>
              </a:defRPr>
            </a:pPr>
            <a:r>
              <a:rPr sz="2175" b="0">
                <a:solidFill>
                  <a:srgbClr val="18382F"/>
                </a:solidFill>
                <a:latin typeface="Arial"/>
                <a:ea typeface="Arial"/>
                <a:cs typeface="Arial"/>
              </a:rPr>
              <a:t>Store the receipt and deduct stock</a:t>
            </a:r>
          </a:p>
        </p:txBody>
      </p:sp>
      <p:sp>
        <p:nvSpPr>
          <p:cNvPr id="5" name="">
            <a:extLst xmlns:a="http://schemas.openxmlformats.org/drawingml/2006/main">
              <a:ext uri="{FF2B5EF4-FFF2-40B4-BE49-F238E27FC236}">
                <a16:creationId xmlns:a16="http://schemas.microsoft.com/office/drawing/2014/main" id="{F76916BA-673B-48D4-AF6A-0B972C5A3C13}"/>
              </a:ext>
            </a:extLst>
          </p:cNvPr>
          <p:cNvSpPr>
            <a:spLocks xmlns:a="http://schemas.openxmlformats.org/drawingml/2006/main" noGrp="1"/>
          </p:cNvSpPr>
          <p:nvPr/>
        </p:nvSpPr>
        <p:spPr>
          <a:xfrm xmlns:a="http://schemas.openxmlformats.org/drawingml/2006/main">
            <a:off x="6667500" y="17145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382F"/>
                </a:solidFill>
                <a:latin typeface="Arial"/>
                <a:ea typeface="Arial"/>
                <a:cs typeface="Arial"/>
              </a:defRPr>
            </a:defPPr>
          </a:lstStyle>
          <a:p xmlns:a="http://schemas.openxmlformats.org/drawingml/2006/main">
            <a:pPr>
              <a:defRPr sz="2400" b="1">
                <a:solidFill>
                  <a:srgbClr val="18382F"/>
                </a:solidFill>
                <a:latin typeface="Arial"/>
                <a:ea typeface="Arial"/>
                <a:cs typeface="Arial"/>
              </a:defRPr>
            </a:pPr>
            <a:r>
              <a:rPr sz="2400" b="1">
                <a:solidFill>
                  <a:srgbClr val="18382F"/>
                </a:solidFill>
                <a:latin typeface="Arial"/>
                <a:ea typeface="Arial"/>
                <a:cs typeface="Arial"/>
              </a:rPr>
              <a:t>Handle Returns</a:t>
            </a:r>
          </a:p>
        </p:txBody>
      </p:sp>
      <p:sp>
        <p:nvSpPr>
          <p:cNvPr id="6" name="">
            <a:extLst xmlns:a="http://schemas.openxmlformats.org/drawingml/2006/main">
              <a:ext uri="{FF2B5EF4-FFF2-40B4-BE49-F238E27FC236}">
                <a16:creationId xmlns:a16="http://schemas.microsoft.com/office/drawing/2014/main" id="{9F5911BB-E107-43E3-A24D-A863CBD68EC3}"/>
              </a:ext>
            </a:extLst>
          </p:cNvPr>
          <p:cNvSpPr>
            <a:spLocks xmlns:a="http://schemas.openxmlformats.org/drawingml/2006/main" noGrp="1"/>
          </p:cNvSpPr>
          <p:nvPr/>
        </p:nvSpPr>
        <p:spPr>
          <a:xfrm xmlns:a="http://schemas.openxmlformats.org/drawingml/2006/main">
            <a:off x="6667500" y="247650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2F"/>
                </a:solidFill>
                <a:latin typeface="Arial"/>
                <a:ea typeface="Arial"/>
                <a:cs typeface="Arial"/>
              </a:defRPr>
            </a:defPPr>
          </a:lstStyle>
          <a:p xmlns:a="http://schemas.openxmlformats.org/drawingml/2006/main">
            <a:pPr>
              <a:defRPr sz="2175" b="0">
                <a:solidFill>
                  <a:srgbClr val="18382F"/>
                </a:solidFill>
                <a:latin typeface="Arial"/>
                <a:ea typeface="Arial"/>
                <a:cs typeface="Arial"/>
              </a:defRPr>
            </a:pPr>
            <a:r>
              <a:rPr sz="2175" b="0">
                <a:solidFill>
                  <a:srgbClr val="18382F"/>
                </a:solidFill>
                <a:latin typeface="Arial"/>
                <a:ea typeface="Arial"/>
                <a:cs typeface="Arial"/>
              </a:rPr>
              <a:t>Retrieve the original receipt</a:t>
            </a:r>
          </a:p>
          <a:p xmlns:a="http://schemas.openxmlformats.org/drawingml/2006/main">
            <a:pPr>
              <a:defRPr sz="2175" b="0">
                <a:solidFill>
                  <a:srgbClr val="18382F"/>
                </a:solidFill>
                <a:latin typeface="Arial"/>
                <a:ea typeface="Arial"/>
                <a:cs typeface="Arial"/>
              </a:defRPr>
            </a:pPr>
            <a:r>
              <a:rPr sz="2175" b="0">
                <a:solidFill>
                  <a:srgbClr val="18382F"/>
                </a:solidFill>
                <a:latin typeface="Arial"/>
                <a:ea typeface="Arial"/>
                <a:cs typeface="Arial"/>
              </a:rPr>
              <a:t>Refund eligible quantities at original prices</a:t>
            </a:r>
          </a:p>
          <a:p xmlns:a="http://schemas.openxmlformats.org/drawingml/2006/main">
            <a:pPr>
              <a:defRPr sz="2175" b="0">
                <a:solidFill>
                  <a:srgbClr val="18382F"/>
                </a:solidFill>
                <a:latin typeface="Arial"/>
                <a:ea typeface="Arial"/>
                <a:cs typeface="Arial"/>
              </a:defRPr>
            </a:pPr>
            <a:r>
              <a:rPr sz="2175" b="0">
                <a:solidFill>
                  <a:srgbClr val="18382F"/>
                </a:solidFill>
                <a:latin typeface="Arial"/>
                <a:ea typeface="Arial"/>
                <a:cs typeface="Arial"/>
              </a:rPr>
              <a:t>Record the return and restore stock</a:t>
            </a:r>
          </a:p>
        </p:txBody>
      </p:sp>
      <p:sp>
        <p:nvSpPr>
          <p:cNvPr id="7" name="">
            <a:extLst xmlns:a="http://schemas.openxmlformats.org/drawingml/2006/main">
              <a:ext uri="{FF2B5EF4-FFF2-40B4-BE49-F238E27FC236}">
                <a16:creationId xmlns:a16="http://schemas.microsoft.com/office/drawing/2014/main" id="{2EBBF873-791E-46C2-A485-3B91C41C4FD3}"/>
              </a:ext>
            </a:extLst>
          </p:cNvPr>
          <p:cNvSpPr>
            <a:spLocks xmlns:a="http://schemas.openxmlformats.org/drawingml/2006/main" noGrp="1"/>
          </p:cNvSpPr>
          <p:nvPr/>
        </p:nvSpPr>
        <p:spPr>
          <a:xfrm xmlns:a="http://schemas.openxmlformats.org/drawingml/2006/main">
            <a:off x="609600" y="57150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269"/>
                </a:solidFill>
                <a:latin typeface="Arial"/>
                <a:ea typeface="Arial"/>
                <a:cs typeface="Arial"/>
              </a:defRPr>
            </a:defPPr>
          </a:lstStyle>
          <a:p xmlns:a="http://schemas.openxmlformats.org/drawingml/2006/main">
            <a:pPr>
              <a:defRPr sz="1725" b="0">
                <a:solidFill>
                  <a:srgbClr val="607269"/>
                </a:solidFill>
                <a:latin typeface="Arial"/>
                <a:ea typeface="Arial"/>
                <a:cs typeface="Arial"/>
              </a:defRPr>
            </a:pPr>
            <a:r>
              <a:rPr sz="1725" b="0">
                <a:solidFill>
                  <a:srgbClr val="607269"/>
                </a:solidFill>
                <a:latin typeface="Arial"/>
                <a:ea typeface="Arial"/>
                <a:cs typeface="Arial"/>
              </a:rPr>
              <a:t>Cash only. No card integration, customer accounts or receipt-less returns.</a:t>
            </a:r>
          </a:p>
        </p:txBody>
      </p:sp>
    </p:spTree>
    <p:extLst>
      <p:ext uri="{BB962C8B-B14F-4D97-AF65-F5344CB8AC3E}">
        <p14:creationId xmlns:p14="http://schemas.microsoft.com/office/powerpoint/2010/main" val="2097024656"/>
      </p:ext>
    </p:extLst>
  </p:cSld>
</p:sld>
</file>

<file path=ppt/slides/slide3.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9BC7C8-6D16-4962-B297-7C7D408FF4C0}"/>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Agile plan and actual checkpoints</a:t>
            </a:r>
          </a:p>
        </p:txBody>
      </p:sp>
      <p:sp>
        <p:nvSpPr>
          <p:cNvPr id="2" name="">
            <a:extLst xmlns:a="http://schemas.openxmlformats.org/drawingml/2006/main">
              <a:ext uri="{FF2B5EF4-FFF2-40B4-BE49-F238E27FC236}">
                <a16:creationId xmlns:a16="http://schemas.microsoft.com/office/drawing/2014/main" id="{0E944392-EAE6-4961-A34D-86130FA0D593}"/>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2DD1646B-156D-4844-96F3-F233C12526B2}"/>
              </a:ext>
            </a:extLst>
          </p:cNvPr>
          <p:cNvSpPr>
            <a:spLocks xmlns:a="http://schemas.openxmlformats.org/drawingml/2006/main" noGrp="1"/>
          </p:cNvSpPr>
          <p:nvPr/>
        </p:nvSpPr>
        <p:spPr>
          <a:xfrm xmlns:a="http://schemas.openxmlformats.org/drawingml/2006/main">
            <a:off x="609600" y="16192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82F"/>
                </a:solidFill>
                <a:latin typeface="Arial"/>
                <a:ea typeface="Arial"/>
                <a:cs typeface="Arial"/>
              </a:defRPr>
            </a:defPPr>
          </a:lstStyle>
          <a:p xmlns:a="http://schemas.openxmlformats.org/drawingml/2006/main">
            <a:pPr>
              <a:defRPr sz="2100" b="1">
                <a:solidFill>
                  <a:srgbClr val="18382F"/>
                </a:solidFill>
                <a:latin typeface="Arial"/>
                <a:ea typeface="Arial"/>
                <a:cs typeface="Arial"/>
              </a:defRPr>
            </a:pPr>
            <a:r>
              <a:rPr sz="2100" b="1">
                <a:solidFill>
                  <a:srgbClr val="18382F"/>
                </a:solidFill>
                <a:latin typeface="Arial"/>
                <a:ea typeface="Arial"/>
                <a:cs typeface="Arial"/>
              </a:rPr>
              <a:t>Planned increments</a:t>
            </a:r>
          </a:p>
        </p:txBody>
      </p:sp>
      <p:sp>
        <p:nvSpPr>
          <p:cNvPr id="4" name="">
            <a:extLst xmlns:a="http://schemas.openxmlformats.org/drawingml/2006/main">
              <a:ext uri="{FF2B5EF4-FFF2-40B4-BE49-F238E27FC236}">
                <a16:creationId xmlns:a16="http://schemas.microsoft.com/office/drawing/2014/main" id="{DF3D3F8F-6167-4C13-ACAB-DF38E00FC53C}"/>
              </a:ext>
            </a:extLst>
          </p:cNvPr>
          <p:cNvSpPr>
            <a:spLocks xmlns:a="http://schemas.openxmlformats.org/drawingml/2006/main" noGrp="1"/>
          </p:cNvSpPr>
          <p:nvPr/>
        </p:nvSpPr>
        <p:spPr>
          <a:xfrm xmlns:a="http://schemas.openxmlformats.org/drawingml/2006/main">
            <a:off x="609600" y="2238375"/>
            <a:ext cx="5238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82F"/>
                </a:solidFill>
                <a:latin typeface="Arial"/>
                <a:ea typeface="Arial"/>
                <a:cs typeface="Arial"/>
              </a:defRPr>
            </a:defPPr>
          </a:lstStyle>
          <a:p xmlns:a="http://schemas.openxmlformats.org/drawingml/2006/main">
            <a:pPr>
              <a:defRPr sz="1875" b="0">
                <a:solidFill>
                  <a:srgbClr val="18382F"/>
                </a:solidFill>
                <a:latin typeface="Arial"/>
                <a:ea typeface="Arial"/>
                <a:cs typeface="Arial"/>
              </a:defRPr>
            </a:pPr>
            <a:r>
              <a:rPr sz="1875" b="0">
                <a:solidFill>
                  <a:srgbClr val="18382F"/>
                </a:solidFill>
                <a:latin typeface="Arial"/>
                <a:ea typeface="Arial"/>
                <a:cs typeface="Arial"/>
              </a:rPr>
              <a:t>15–17 Oct   Cash sale and stock</a:t>
            </a:r>
          </a:p>
          <a:p xmlns:a="http://schemas.openxmlformats.org/drawingml/2006/main">
            <a:pPr>
              <a:defRPr sz="1875" b="0">
                <a:solidFill>
                  <a:srgbClr val="18382F"/>
                </a:solidFill>
                <a:latin typeface="Arial"/>
                <a:ea typeface="Arial"/>
                <a:cs typeface="Arial"/>
              </a:defRPr>
            </a:pPr>
            <a:r>
              <a:rPr sz="1875" b="0">
                <a:solidFill>
                  <a:srgbClr val="18382F"/>
                </a:solidFill>
                <a:latin typeface="Arial"/>
                <a:ea typeface="Arial"/>
                <a:cs typeface="Arial"/>
              </a:rPr>
              <a:t>18–20 Oct   Returns and history</a:t>
            </a:r>
          </a:p>
          <a:p xmlns:a="http://schemas.openxmlformats.org/drawingml/2006/main">
            <a:pPr>
              <a:defRPr sz="1875" b="0">
                <a:solidFill>
                  <a:srgbClr val="18382F"/>
                </a:solidFill>
                <a:latin typeface="Arial"/>
                <a:ea typeface="Arial"/>
                <a:cs typeface="Arial"/>
              </a:defRPr>
            </a:pPr>
            <a:r>
              <a:rPr sz="1875" b="0">
                <a:solidFill>
                  <a:srgbClr val="18382F"/>
                </a:solidFill>
                <a:latin typeface="Arial"/>
                <a:ea typeface="Arial"/>
                <a:cs typeface="Arial"/>
              </a:rPr>
              <a:t>21–23 Oct   Documentation and delivery</a:t>
            </a:r>
          </a:p>
        </p:txBody>
      </p:sp>
      <p:graphicFrame>
        <p:nvGraphicFramePr>
          <p:cNvPr id="5" name="Chart">
            <a:extLst xmlns:a="http://schemas.openxmlformats.org/drawingml/2006/main">
              <a:ext uri="{FF2B5EF4-FFF2-40B4-BE49-F238E27FC236}">
                <a16:creationId xmlns:a16="http://schemas.microsoft.com/office/drawing/2014/main" id="{646A280F-9DDF-477B-B825-EDF90B1F9117}"/>
              </a:ext>
            </a:extLst>
          </p:cNvPr>
          <p:cNvGraphicFramePr/>
          <p:nvPr/>
        </p:nvGraphicFramePr>
        <p:xfrm>
          <a:off xmlns:a="http://schemas.openxmlformats.org/drawingml/2006/main" x="6191250" y="1714500"/>
          <a:ext xmlns:a="http://schemas.openxmlformats.org/drawingml/2006/main" cx="5143500" cy="3429000"/>
        </p:xfrm>
        <a:graphic xmlns:a="http://schemas.openxmlformats.org/drawingml/2006/main">
          <a:graphicData uri="http://schemas.openxmlformats.org/drawingml/2006/chart">
            <c:chart xmlns:r="http://schemas.openxmlformats.org/officeDocument/2006/relationships" xmlns:c="http://schemas.openxmlformats.org/drawingml/2006/chart" r:id="Rcf6de08c83be448e"/>
          </a:graphicData>
        </a:graphic>
      </p:graphicFrame>
      <p:sp>
        <p:nvSpPr>
          <p:cNvPr id="6" name="">
            <a:extLst xmlns:a="http://schemas.openxmlformats.org/drawingml/2006/main">
              <a:ext uri="{FF2B5EF4-FFF2-40B4-BE49-F238E27FC236}">
                <a16:creationId xmlns:a16="http://schemas.microsoft.com/office/drawing/2014/main" id="{47D42EB5-0DA4-487D-9F84-1A460A8659BB}"/>
              </a:ext>
            </a:extLst>
          </p:cNvPr>
          <p:cNvSpPr>
            <a:spLocks xmlns:a="http://schemas.openxmlformats.org/drawingml/2006/main" noGrp="1"/>
          </p:cNvSpPr>
          <p:nvPr/>
        </p:nvSpPr>
        <p:spPr>
          <a:xfrm xmlns:a="http://schemas.openxmlformats.org/drawingml/2006/main">
            <a:off x="609600" y="55721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269"/>
                </a:solidFill>
                <a:latin typeface="Arial"/>
                <a:ea typeface="Arial"/>
                <a:cs typeface="Arial"/>
              </a:defRPr>
            </a:defPPr>
          </a:lstStyle>
          <a:p xmlns:a="http://schemas.openxmlformats.org/drawingml/2006/main">
            <a:pPr>
              <a:defRPr sz="1650" b="0">
                <a:solidFill>
                  <a:srgbClr val="607269"/>
                </a:solidFill>
                <a:latin typeface="Arial"/>
                <a:ea typeface="Arial"/>
                <a:cs typeface="Arial"/>
              </a:defRPr>
            </a:pPr>
            <a:r>
              <a:rPr sz="1650" b="0">
                <a:solidFill>
                  <a:srgbClr val="607269"/>
                </a:solidFill>
                <a:latin typeface="Arial"/>
                <a:ea typeface="Arial"/>
                <a:cs typeface="Arial"/>
              </a:rPr>
              <a:t>Actual evidence on 15 October: 39 → 39 → 8 points remaining</a:t>
            </a:r>
          </a:p>
        </p:txBody>
      </p:sp>
    </p:spTree>
    <p:extLst>
      <p:ext uri="{BB962C8B-B14F-4D97-AF65-F5344CB8AC3E}">
        <p14:creationId xmlns:p14="http://schemas.microsoft.com/office/powerpoint/2010/main" val="2045220664"/>
      </p:ext>
    </p:extLst>
  </p:cSld>
</p:sld>
</file>

<file path=ppt/slides/slide4.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5C02BBEE-979B-4B04-BD2D-08450ED58DF4}"/>
              </a:ext>
            </a:extLst>
          </p:cNvPr>
          <p:cNvCxnSpPr>
            <a:stCxn xmlns:a="http://schemas.openxmlformats.org/drawingml/2006/main" id="6" idx="3"/>
            <a:endCxn xmlns:a="http://schemas.openxmlformats.org/drawingml/2006/main" id="9" idx="1"/>
          </p:cNvCxnSpPr>
          <p:nvPr/>
        </p:nvCxnSpPr>
        <p:spPr>
          <a:xfrm xmlns:a="http://schemas.openxmlformats.org/drawingml/2006/main">
            <a:off x="7429500" y="2905125"/>
            <a:ext cx="1428750" cy="0"/>
          </a:xfrm>
          <a:prstGeom xmlns:a="http://schemas.openxmlformats.org/drawingml/2006/main" prst="straightConnector1">
            <a:avLst/>
          </a:prstGeom>
          <a:ln xmlns:a="http://schemas.openxmlformats.org/drawingml/2006/main" w="19050">
            <a:solidFill>
              <a:srgbClr val="17634E"/>
            </a:solidFill>
            <a:tailEnd type="arrow" w="med" len="med"/>
          </a:ln>
        </p:spPr>
      </p:cxnSp>
      <p:cxnSp>
        <p:nvCxnSpPr>
          <p:cNvPr id="12" name="">
            <a:extLst xmlns:a="http://schemas.openxmlformats.org/drawingml/2006/main">
              <a:ext uri="{FF2B5EF4-FFF2-40B4-BE49-F238E27FC236}">
                <a16:creationId xmlns:a16="http://schemas.microsoft.com/office/drawing/2014/main" id="{C30A4429-D0D8-412E-AF48-919542628DF6}"/>
              </a:ext>
            </a:extLst>
          </p:cNvPr>
          <p:cNvCxnSpPr>
            <a:stCxn xmlns:a="http://schemas.openxmlformats.org/drawingml/2006/main" id="3" idx="3"/>
            <a:endCxn xmlns:a="http://schemas.openxmlformats.org/drawingml/2006/main" id="6" idx="1"/>
          </p:cNvCxnSpPr>
          <p:nvPr/>
        </p:nvCxnSpPr>
        <p:spPr>
          <a:xfrm xmlns:a="http://schemas.openxmlformats.org/drawingml/2006/main">
            <a:off x="3276600" y="2905125"/>
            <a:ext cx="1295400" cy="0"/>
          </a:xfrm>
          <a:prstGeom xmlns:a="http://schemas.openxmlformats.org/drawingml/2006/main" prst="straightConnector1">
            <a:avLst/>
          </a:prstGeom>
          <a:ln xmlns:a="http://schemas.openxmlformats.org/drawingml/2006/main" w="19050">
            <a:solidFill>
              <a:srgbClr val="17634E"/>
            </a:solidFill>
            <a:tailEnd type="arrow" w="med" len="med"/>
          </a:ln>
        </p:spPr>
      </p:cxnSp>
      <p:sp>
        <p:nvSpPr>
          <p:cNvPr id="20" name="">
            <a:extLst xmlns:a="http://schemas.openxmlformats.org/drawingml/2006/main">
              <a:ext uri="{FF2B5EF4-FFF2-40B4-BE49-F238E27FC236}">
                <a16:creationId xmlns:a16="http://schemas.microsoft.com/office/drawing/2014/main" id="{BE5B180A-E016-4924-90D9-EE9C4300A3D6}"/>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Domain model</a:t>
            </a:r>
          </a:p>
        </p:txBody>
      </p:sp>
      <p:sp>
        <p:nvSpPr>
          <p:cNvPr id="2" name="">
            <a:extLst xmlns:a="http://schemas.openxmlformats.org/drawingml/2006/main">
              <a:ext uri="{FF2B5EF4-FFF2-40B4-BE49-F238E27FC236}">
                <a16:creationId xmlns:a16="http://schemas.microsoft.com/office/drawing/2014/main" id="{7D96C4F8-BF21-4C2B-BAB7-FEA76B8589DA}"/>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4065DB97-5F75-45EC-851F-10E8D068BFF5}"/>
              </a:ext>
            </a:extLst>
          </p:cNvPr>
          <p:cNvSpPr>
            <a:spLocks xmlns:a="http://schemas.openxmlformats.org/drawingml/2006/main" noGrp="1"/>
          </p:cNvSpPr>
          <p:nvPr/>
        </p:nvSpPr>
        <p:spPr>
          <a:xfrm xmlns:a="http://schemas.openxmlformats.org/drawingml/2006/main">
            <a:off x="609600" y="2000250"/>
            <a:ext cx="2667000" cy="1809750"/>
          </a:xfrm>
          <a:prstGeom xmlns:a="http://schemas.openxmlformats.org/drawingml/2006/main" prst="rect">
            <a:avLst/>
          </a:prstGeom>
          <a:solidFill xmlns:a="http://schemas.openxmlformats.org/drawingml/2006/main">
            <a:srgbClr val="EEF3EE"/>
          </a:solidFill>
          <a:ln xmlns:a="http://schemas.openxmlformats.org/drawingml/2006/main" w="11430">
            <a:solidFill>
              <a:srgbClr val="6A8477"/>
            </a:solidFill>
          </a:ln>
        </p:spPr>
      </p:sp>
      <p:sp>
        <p:nvSpPr>
          <p:cNvPr id="4" name="">
            <a:extLst xmlns:a="http://schemas.openxmlformats.org/drawingml/2006/main">
              <a:ext uri="{FF2B5EF4-FFF2-40B4-BE49-F238E27FC236}">
                <a16:creationId xmlns:a16="http://schemas.microsoft.com/office/drawing/2014/main" id="{42E4068A-081B-41E4-AD58-D6CA2204E24C}"/>
              </a:ext>
            </a:extLst>
          </p:cNvPr>
          <p:cNvSpPr>
            <a:spLocks xmlns:a="http://schemas.openxmlformats.org/drawingml/2006/main" noGrp="1"/>
          </p:cNvSpPr>
          <p:nvPr/>
        </p:nvSpPr>
        <p:spPr>
          <a:xfrm xmlns:a="http://schemas.openxmlformats.org/drawingml/2006/main">
            <a:off x="781050" y="2152650"/>
            <a:ext cx="2324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82F"/>
                </a:solidFill>
                <a:latin typeface="Arial"/>
                <a:ea typeface="Arial"/>
                <a:cs typeface="Arial"/>
              </a:defRPr>
            </a:defPPr>
          </a:lstStyle>
          <a:p xmlns:a="http://schemas.openxmlformats.org/drawingml/2006/main">
            <a:pPr>
              <a:defRPr sz="1725" b="1">
                <a:solidFill>
                  <a:srgbClr val="18382F"/>
                </a:solidFill>
                <a:latin typeface="Arial"/>
                <a:ea typeface="Arial"/>
                <a:cs typeface="Arial"/>
              </a:defRPr>
            </a:pPr>
            <a:r>
              <a:rPr sz="1725" b="1">
                <a:solidFill>
                  <a:srgbClr val="18382F"/>
                </a:solidFill>
                <a:latin typeface="Arial"/>
                <a:ea typeface="Arial"/>
                <a:cs typeface="Arial"/>
              </a:rPr>
              <a:t>Sale</a:t>
            </a:r>
          </a:p>
        </p:txBody>
      </p:sp>
      <p:sp>
        <p:nvSpPr>
          <p:cNvPr id="5" name="">
            <a:extLst xmlns:a="http://schemas.openxmlformats.org/drawingml/2006/main">
              <a:ext uri="{FF2B5EF4-FFF2-40B4-BE49-F238E27FC236}">
                <a16:creationId xmlns:a16="http://schemas.microsoft.com/office/drawing/2014/main" id="{8214D036-A77D-4CEC-87F3-855CDFD84F87}"/>
              </a:ext>
            </a:extLst>
          </p:cNvPr>
          <p:cNvSpPr>
            <a:spLocks xmlns:a="http://schemas.openxmlformats.org/drawingml/2006/main" noGrp="1"/>
          </p:cNvSpPr>
          <p:nvPr/>
        </p:nvSpPr>
        <p:spPr>
          <a:xfrm xmlns:a="http://schemas.openxmlformats.org/drawingml/2006/main">
            <a:off x="781050" y="2628900"/>
            <a:ext cx="23241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saleId</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dateTime</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total</a:t>
            </a:r>
          </a:p>
        </p:txBody>
      </p:sp>
      <p:sp>
        <p:nvSpPr>
          <p:cNvPr id="6" name="">
            <a:extLst xmlns:a="http://schemas.openxmlformats.org/drawingml/2006/main">
              <a:ext uri="{FF2B5EF4-FFF2-40B4-BE49-F238E27FC236}">
                <a16:creationId xmlns:a16="http://schemas.microsoft.com/office/drawing/2014/main" id="{2A029302-1E53-4341-B981-4C3271301B04}"/>
              </a:ext>
            </a:extLst>
          </p:cNvPr>
          <p:cNvSpPr>
            <a:spLocks xmlns:a="http://schemas.openxmlformats.org/drawingml/2006/main" noGrp="1"/>
          </p:cNvSpPr>
          <p:nvPr/>
        </p:nvSpPr>
        <p:spPr>
          <a:xfrm xmlns:a="http://schemas.openxmlformats.org/drawingml/2006/main">
            <a:off x="4572000" y="2000250"/>
            <a:ext cx="2857500" cy="1809750"/>
          </a:xfrm>
          <a:prstGeom xmlns:a="http://schemas.openxmlformats.org/drawingml/2006/main" prst="rect">
            <a:avLst/>
          </a:prstGeom>
          <a:solidFill xmlns:a="http://schemas.openxmlformats.org/drawingml/2006/main">
            <a:srgbClr val="EEF3EE"/>
          </a:solidFill>
          <a:ln xmlns:a="http://schemas.openxmlformats.org/drawingml/2006/main" w="11430">
            <a:solidFill>
              <a:srgbClr val="6A8477"/>
            </a:solidFill>
          </a:ln>
        </p:spPr>
      </p:sp>
      <p:sp>
        <p:nvSpPr>
          <p:cNvPr id="7" name="">
            <a:extLst xmlns:a="http://schemas.openxmlformats.org/drawingml/2006/main">
              <a:ext uri="{FF2B5EF4-FFF2-40B4-BE49-F238E27FC236}">
                <a16:creationId xmlns:a16="http://schemas.microsoft.com/office/drawing/2014/main" id="{43074F20-9097-4910-AE08-97D40226ABF6}"/>
              </a:ext>
            </a:extLst>
          </p:cNvPr>
          <p:cNvSpPr>
            <a:spLocks xmlns:a="http://schemas.openxmlformats.org/drawingml/2006/main" noGrp="1"/>
          </p:cNvSpPr>
          <p:nvPr/>
        </p:nvSpPr>
        <p:spPr>
          <a:xfrm xmlns:a="http://schemas.openxmlformats.org/drawingml/2006/main">
            <a:off x="4743450" y="2152650"/>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82F"/>
                </a:solidFill>
                <a:latin typeface="Arial"/>
                <a:ea typeface="Arial"/>
                <a:cs typeface="Arial"/>
              </a:defRPr>
            </a:defPPr>
          </a:lstStyle>
          <a:p xmlns:a="http://schemas.openxmlformats.org/drawingml/2006/main">
            <a:pPr>
              <a:defRPr sz="1725" b="1">
                <a:solidFill>
                  <a:srgbClr val="18382F"/>
                </a:solidFill>
                <a:latin typeface="Arial"/>
                <a:ea typeface="Arial"/>
                <a:cs typeface="Arial"/>
              </a:defRPr>
            </a:pPr>
            <a:r>
              <a:rPr sz="1725" b="1">
                <a:solidFill>
                  <a:srgbClr val="18382F"/>
                </a:solidFill>
                <a:latin typeface="Arial"/>
                <a:ea typeface="Arial"/>
                <a:cs typeface="Arial"/>
              </a:rPr>
              <a:t>SaleLine</a:t>
            </a:r>
          </a:p>
        </p:txBody>
      </p:sp>
      <p:sp>
        <p:nvSpPr>
          <p:cNvPr id="8" name="">
            <a:extLst xmlns:a="http://schemas.openxmlformats.org/drawingml/2006/main">
              <a:ext uri="{FF2B5EF4-FFF2-40B4-BE49-F238E27FC236}">
                <a16:creationId xmlns:a16="http://schemas.microsoft.com/office/drawing/2014/main" id="{7366659A-02CD-4E93-B28F-6D5E12B83167}"/>
              </a:ext>
            </a:extLst>
          </p:cNvPr>
          <p:cNvSpPr>
            <a:spLocks xmlns:a="http://schemas.openxmlformats.org/drawingml/2006/main" noGrp="1"/>
          </p:cNvSpPr>
          <p:nvPr/>
        </p:nvSpPr>
        <p:spPr>
          <a:xfrm xmlns:a="http://schemas.openxmlformats.org/drawingml/2006/main">
            <a:off x="4743450" y="2628900"/>
            <a:ext cx="25146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quantity</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unitPriceAtSale</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returnedQuantity</a:t>
            </a:r>
          </a:p>
        </p:txBody>
      </p:sp>
      <p:sp>
        <p:nvSpPr>
          <p:cNvPr id="9" name="">
            <a:extLst xmlns:a="http://schemas.openxmlformats.org/drawingml/2006/main">
              <a:ext uri="{FF2B5EF4-FFF2-40B4-BE49-F238E27FC236}">
                <a16:creationId xmlns:a16="http://schemas.microsoft.com/office/drawing/2014/main" id="{98D0E7B8-852F-4BB3-85F2-692B51682C46}"/>
              </a:ext>
            </a:extLst>
          </p:cNvPr>
          <p:cNvSpPr>
            <a:spLocks xmlns:a="http://schemas.openxmlformats.org/drawingml/2006/main" noGrp="1"/>
          </p:cNvSpPr>
          <p:nvPr/>
        </p:nvSpPr>
        <p:spPr>
          <a:xfrm xmlns:a="http://schemas.openxmlformats.org/drawingml/2006/main">
            <a:off x="8858250" y="2000250"/>
            <a:ext cx="2667000" cy="1809750"/>
          </a:xfrm>
          <a:prstGeom xmlns:a="http://schemas.openxmlformats.org/drawingml/2006/main" prst="rect">
            <a:avLst/>
          </a:prstGeom>
          <a:solidFill xmlns:a="http://schemas.openxmlformats.org/drawingml/2006/main">
            <a:srgbClr val="EEF3EE"/>
          </a:solidFill>
          <a:ln xmlns:a="http://schemas.openxmlformats.org/drawingml/2006/main" w="11430">
            <a:solidFill>
              <a:srgbClr val="6A8477"/>
            </a:solidFill>
          </a:ln>
        </p:spPr>
      </p:sp>
      <p:sp>
        <p:nvSpPr>
          <p:cNvPr id="10" name="">
            <a:extLst xmlns:a="http://schemas.openxmlformats.org/drawingml/2006/main">
              <a:ext uri="{FF2B5EF4-FFF2-40B4-BE49-F238E27FC236}">
                <a16:creationId xmlns:a16="http://schemas.microsoft.com/office/drawing/2014/main" id="{0837189C-2CA1-4872-AC0B-67A60F2B2B79}"/>
              </a:ext>
            </a:extLst>
          </p:cNvPr>
          <p:cNvSpPr>
            <a:spLocks xmlns:a="http://schemas.openxmlformats.org/drawingml/2006/main" noGrp="1"/>
          </p:cNvSpPr>
          <p:nvPr/>
        </p:nvSpPr>
        <p:spPr>
          <a:xfrm xmlns:a="http://schemas.openxmlformats.org/drawingml/2006/main">
            <a:off x="9029700" y="2152650"/>
            <a:ext cx="2324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82F"/>
                </a:solidFill>
                <a:latin typeface="Arial"/>
                <a:ea typeface="Arial"/>
                <a:cs typeface="Arial"/>
              </a:defRPr>
            </a:defPPr>
          </a:lstStyle>
          <a:p xmlns:a="http://schemas.openxmlformats.org/drawingml/2006/main">
            <a:pPr>
              <a:defRPr sz="1725" b="1">
                <a:solidFill>
                  <a:srgbClr val="18382F"/>
                </a:solidFill>
                <a:latin typeface="Arial"/>
                <a:ea typeface="Arial"/>
                <a:cs typeface="Arial"/>
              </a:defRPr>
            </a:pPr>
            <a:r>
              <a:rPr sz="1725" b="1">
                <a:solidFill>
                  <a:srgbClr val="18382F"/>
                </a:solidFill>
                <a:latin typeface="Arial"/>
                <a:ea typeface="Arial"/>
                <a:cs typeface="Arial"/>
              </a:rPr>
              <a:t>Product</a:t>
            </a:r>
          </a:p>
        </p:txBody>
      </p:sp>
      <p:sp>
        <p:nvSpPr>
          <p:cNvPr id="11" name="">
            <a:extLst xmlns:a="http://schemas.openxmlformats.org/drawingml/2006/main">
              <a:ext uri="{FF2B5EF4-FFF2-40B4-BE49-F238E27FC236}">
                <a16:creationId xmlns:a16="http://schemas.microsoft.com/office/drawing/2014/main" id="{C60B8450-59A0-4275-91BB-59A82943F764}"/>
              </a:ext>
            </a:extLst>
          </p:cNvPr>
          <p:cNvSpPr>
            <a:spLocks xmlns:a="http://schemas.openxmlformats.org/drawingml/2006/main" noGrp="1"/>
          </p:cNvSpPr>
          <p:nvPr/>
        </p:nvSpPr>
        <p:spPr>
          <a:xfrm xmlns:a="http://schemas.openxmlformats.org/drawingml/2006/main">
            <a:off x="9029700" y="2628900"/>
            <a:ext cx="23241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sku and name</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currentPrice</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stockOnHand</a:t>
            </a:r>
          </a:p>
        </p:txBody>
      </p:sp>
      <p:sp>
        <p:nvSpPr>
          <p:cNvPr id="14" name="">
            <a:extLst xmlns:a="http://schemas.openxmlformats.org/drawingml/2006/main">
              <a:ext uri="{FF2B5EF4-FFF2-40B4-BE49-F238E27FC236}">
                <a16:creationId xmlns:a16="http://schemas.microsoft.com/office/drawing/2014/main" id="{7436439B-A461-4B81-A0CA-5D0722A0B79C}"/>
              </a:ext>
            </a:extLst>
          </p:cNvPr>
          <p:cNvSpPr>
            <a:spLocks xmlns:a="http://schemas.openxmlformats.org/drawingml/2006/main" noGrp="1"/>
          </p:cNvSpPr>
          <p:nvPr/>
        </p:nvSpPr>
        <p:spPr>
          <a:xfrm xmlns:a="http://schemas.openxmlformats.org/drawingml/2006/main">
            <a:off x="3381375" y="24765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450910C0-0965-41BF-B833-88730868D9A5}"/>
              </a:ext>
            </a:extLst>
          </p:cNvPr>
          <p:cNvSpPr>
            <a:spLocks xmlns:a="http://schemas.openxmlformats.org/drawingml/2006/main" noGrp="1"/>
          </p:cNvSpPr>
          <p:nvPr/>
        </p:nvSpPr>
        <p:spPr>
          <a:xfrm xmlns:a="http://schemas.openxmlformats.org/drawingml/2006/main">
            <a:off x="4010025" y="24765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915F0C03-3B95-49C3-8E5F-55D6DCF4F261}"/>
              </a:ext>
            </a:extLst>
          </p:cNvPr>
          <p:cNvSpPr>
            <a:spLocks xmlns:a="http://schemas.openxmlformats.org/drawingml/2006/main" noGrp="1"/>
          </p:cNvSpPr>
          <p:nvPr/>
        </p:nvSpPr>
        <p:spPr>
          <a:xfrm xmlns:a="http://schemas.openxmlformats.org/drawingml/2006/main">
            <a:off x="7572375" y="24765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0..*</a:t>
            </a:r>
          </a:p>
        </p:txBody>
      </p:sp>
      <p:sp>
        <p:nvSpPr>
          <p:cNvPr id="17" name="">
            <a:extLst xmlns:a="http://schemas.openxmlformats.org/drawingml/2006/main">
              <a:ext uri="{FF2B5EF4-FFF2-40B4-BE49-F238E27FC236}">
                <a16:creationId xmlns:a16="http://schemas.microsoft.com/office/drawing/2014/main" id="{84E03B9C-3855-4092-99E6-C0C27B7E18CA}"/>
              </a:ext>
            </a:extLst>
          </p:cNvPr>
          <p:cNvSpPr>
            <a:spLocks xmlns:a="http://schemas.openxmlformats.org/drawingml/2006/main" noGrp="1"/>
          </p:cNvSpPr>
          <p:nvPr/>
        </p:nvSpPr>
        <p:spPr>
          <a:xfrm xmlns:a="http://schemas.openxmlformats.org/drawingml/2006/main">
            <a:off x="8458200" y="24765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A37A8F37-85DA-4852-BA2C-233AAFF5974D}"/>
              </a:ext>
            </a:extLst>
          </p:cNvPr>
          <p:cNvSpPr>
            <a:spLocks xmlns:a="http://schemas.openxmlformats.org/drawingml/2006/main" noGrp="1"/>
          </p:cNvSpPr>
          <p:nvPr/>
        </p:nvSpPr>
        <p:spPr>
          <a:xfrm xmlns:a="http://schemas.openxmlformats.org/drawingml/2006/main">
            <a:off x="609600" y="4524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2F"/>
                </a:solidFill>
                <a:latin typeface="Arial"/>
                <a:ea typeface="Arial"/>
                <a:cs typeface="Arial"/>
              </a:defRPr>
            </a:defPPr>
          </a:lstStyle>
          <a:p xmlns:a="http://schemas.openxmlformats.org/drawingml/2006/main">
            <a:pPr>
              <a:defRPr sz="2175" b="0">
                <a:solidFill>
                  <a:srgbClr val="18382F"/>
                </a:solidFill>
                <a:latin typeface="Arial"/>
                <a:ea typeface="Arial"/>
                <a:cs typeface="Arial"/>
              </a:defRPr>
            </a:pPr>
            <a:r>
              <a:rPr sz="2175" b="0">
                <a:solidFill>
                  <a:srgbClr val="18382F"/>
                </a:solidFill>
                <a:latin typeface="Arial"/>
                <a:ea typeface="Arial"/>
                <a:cs typeface="Arial"/>
              </a:rPr>
              <a:t>A refund uses the sale line’s stored price, even after the catalogue price changes.</a:t>
            </a:r>
          </a:p>
        </p:txBody>
      </p:sp>
      <p:sp>
        <p:nvSpPr>
          <p:cNvPr id="19" name="">
            <a:extLst xmlns:a="http://schemas.openxmlformats.org/drawingml/2006/main">
              <a:ext uri="{FF2B5EF4-FFF2-40B4-BE49-F238E27FC236}">
                <a16:creationId xmlns:a16="http://schemas.microsoft.com/office/drawing/2014/main" id="{06F1639C-2DD1-4C07-8053-C850B11DCBBD}"/>
              </a:ext>
            </a:extLst>
          </p:cNvPr>
          <p:cNvSpPr>
            <a:spLocks xmlns:a="http://schemas.openxmlformats.org/drawingml/2006/main" noGrp="1"/>
          </p:cNvSpPr>
          <p:nvPr/>
        </p:nvSpPr>
        <p:spPr>
          <a:xfrm xmlns:a="http://schemas.openxmlformats.org/drawingml/2006/main">
            <a:off x="609600" y="5667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07269"/>
                </a:solidFill>
                <a:latin typeface="Arial"/>
                <a:ea typeface="Arial"/>
                <a:cs typeface="Arial"/>
              </a:defRPr>
            </a:defPPr>
          </a:lstStyle>
          <a:p xmlns:a="http://schemas.openxmlformats.org/drawingml/2006/main">
            <a:pPr>
              <a:defRPr sz="1575" b="0">
                <a:solidFill>
                  <a:srgbClr val="607269"/>
                </a:solidFill>
                <a:latin typeface="Arial"/>
                <a:ea typeface="Arial"/>
                <a:cs typeface="Arial"/>
              </a:defRPr>
            </a:pPr>
            <a:r>
              <a:rPr sz="1575" b="0">
                <a:solidFill>
                  <a:srgbClr val="607269"/>
                </a:solidFill>
                <a:latin typeface="Arial"/>
                <a:ea typeface="Arial"/>
                <a:cs typeface="Arial"/>
              </a:rPr>
              <a:t>Return and ReturnLine are persisted records in this implementation.</a:t>
            </a:r>
          </a:p>
        </p:txBody>
      </p:sp>
    </p:spTree>
    <p:extLst>
      <p:ext uri="{BB962C8B-B14F-4D97-AF65-F5344CB8AC3E}">
        <p14:creationId xmlns:p14="http://schemas.microsoft.com/office/powerpoint/2010/main" val="1878820052"/>
      </p:ext>
    </p:extLst>
  </p:cSld>
</p:sld>
</file>

<file path=ppt/slides/slide5.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7CD18300-9BBD-4E47-8897-1ED524A97013}"/>
              </a:ext>
            </a:extLst>
          </p:cNvPr>
          <p:cNvCxnSpPr>
            <a:stCxn xmlns:a="http://schemas.openxmlformats.org/drawingml/2006/main" id="6" idx="3"/>
            <a:endCxn xmlns:a="http://schemas.openxmlformats.org/drawingml/2006/main" id="9" idx="1"/>
          </p:cNvCxnSpPr>
          <p:nvPr/>
        </p:nvCxnSpPr>
        <p:spPr>
          <a:xfrm xmlns:a="http://schemas.openxmlformats.org/drawingml/2006/main">
            <a:off x="7667625" y="3143250"/>
            <a:ext cx="762000" cy="0"/>
          </a:xfrm>
          <a:prstGeom xmlns:a="http://schemas.openxmlformats.org/drawingml/2006/main" prst="straightConnector1">
            <a:avLst/>
          </a:prstGeom>
          <a:ln xmlns:a="http://schemas.openxmlformats.org/drawingml/2006/main" w="19050">
            <a:solidFill>
              <a:srgbClr val="17634E"/>
            </a:solidFill>
            <a:tailEnd type="arrow" w="med" len="med"/>
          </a:ln>
        </p:spPr>
      </p:cxnSp>
      <p:cxnSp>
        <p:nvCxnSpPr>
          <p:cNvPr id="12" name="">
            <a:extLst xmlns:a="http://schemas.openxmlformats.org/drawingml/2006/main">
              <a:ext uri="{FF2B5EF4-FFF2-40B4-BE49-F238E27FC236}">
                <a16:creationId xmlns:a16="http://schemas.microsoft.com/office/drawing/2014/main" id="{83CF5B99-E23E-4D14-A4F9-15A165CDE800}"/>
              </a:ext>
            </a:extLst>
          </p:cNvPr>
          <p:cNvCxnSpPr>
            <a:stCxn xmlns:a="http://schemas.openxmlformats.org/drawingml/2006/main" id="3" idx="3"/>
            <a:endCxn xmlns:a="http://schemas.openxmlformats.org/drawingml/2006/main" id="6" idx="1"/>
          </p:cNvCxnSpPr>
          <p:nvPr/>
        </p:nvCxnSpPr>
        <p:spPr>
          <a:xfrm xmlns:a="http://schemas.openxmlformats.org/drawingml/2006/main">
            <a:off x="3752850" y="3143250"/>
            <a:ext cx="771525" cy="0"/>
          </a:xfrm>
          <a:prstGeom xmlns:a="http://schemas.openxmlformats.org/drawingml/2006/main" prst="straightConnector1">
            <a:avLst/>
          </a:prstGeom>
          <a:ln xmlns:a="http://schemas.openxmlformats.org/drawingml/2006/main" w="19050">
            <a:solidFill>
              <a:srgbClr val="17634E"/>
            </a:solidFill>
            <a:tailEnd type="arrow" w="med" len="med"/>
          </a:ln>
        </p:spPr>
      </p:cxnSp>
      <p:sp>
        <p:nvSpPr>
          <p:cNvPr id="15" name="">
            <a:extLst xmlns:a="http://schemas.openxmlformats.org/drawingml/2006/main">
              <a:ext uri="{FF2B5EF4-FFF2-40B4-BE49-F238E27FC236}">
                <a16:creationId xmlns:a16="http://schemas.microsoft.com/office/drawing/2014/main" id="{93F66FB9-69B9-4ED3-A5A6-A8B9DA1801F9}"/>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Logical architecture</a:t>
            </a:r>
          </a:p>
        </p:txBody>
      </p:sp>
      <p:sp>
        <p:nvSpPr>
          <p:cNvPr id="2" name="">
            <a:extLst xmlns:a="http://schemas.openxmlformats.org/drawingml/2006/main">
              <a:ext uri="{FF2B5EF4-FFF2-40B4-BE49-F238E27FC236}">
                <a16:creationId xmlns:a16="http://schemas.microsoft.com/office/drawing/2014/main" id="{0DA41933-25F8-46D2-8D4C-EC2D4291FE80}"/>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6CA2085-EC9F-4C13-847A-96277E99D4DB}"/>
              </a:ext>
            </a:extLst>
          </p:cNvPr>
          <p:cNvSpPr>
            <a:spLocks xmlns:a="http://schemas.openxmlformats.org/drawingml/2006/main" noGrp="1"/>
          </p:cNvSpPr>
          <p:nvPr/>
        </p:nvSpPr>
        <p:spPr>
          <a:xfrm xmlns:a="http://schemas.openxmlformats.org/drawingml/2006/main">
            <a:off x="609600" y="2190750"/>
            <a:ext cx="3143250" cy="1905000"/>
          </a:xfrm>
          <a:prstGeom xmlns:a="http://schemas.openxmlformats.org/drawingml/2006/main" prst="rect">
            <a:avLst/>
          </a:prstGeom>
          <a:solidFill xmlns:a="http://schemas.openxmlformats.org/drawingml/2006/main">
            <a:srgbClr val="EEF3EE"/>
          </a:solidFill>
          <a:ln xmlns:a="http://schemas.openxmlformats.org/drawingml/2006/main" w="11430">
            <a:solidFill>
              <a:srgbClr val="6A8477"/>
            </a:solidFill>
          </a:ln>
        </p:spPr>
      </p:sp>
      <p:sp>
        <p:nvSpPr>
          <p:cNvPr id="4" name="">
            <a:extLst xmlns:a="http://schemas.openxmlformats.org/drawingml/2006/main">
              <a:ext uri="{FF2B5EF4-FFF2-40B4-BE49-F238E27FC236}">
                <a16:creationId xmlns:a16="http://schemas.microsoft.com/office/drawing/2014/main" id="{D12AD12F-32C8-41C6-B809-003DC1CEC509}"/>
              </a:ext>
            </a:extLst>
          </p:cNvPr>
          <p:cNvSpPr>
            <a:spLocks xmlns:a="http://schemas.openxmlformats.org/drawingml/2006/main" noGrp="1"/>
          </p:cNvSpPr>
          <p:nvPr/>
        </p:nvSpPr>
        <p:spPr>
          <a:xfrm xmlns:a="http://schemas.openxmlformats.org/drawingml/2006/main">
            <a:off x="781050" y="2343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82F"/>
                </a:solidFill>
                <a:latin typeface="Arial"/>
                <a:ea typeface="Arial"/>
                <a:cs typeface="Arial"/>
              </a:defRPr>
            </a:defPPr>
          </a:lstStyle>
          <a:p xmlns:a="http://schemas.openxmlformats.org/drawingml/2006/main">
            <a:pPr>
              <a:defRPr sz="1725" b="1">
                <a:solidFill>
                  <a:srgbClr val="18382F"/>
                </a:solidFill>
                <a:latin typeface="Arial"/>
                <a:ea typeface="Arial"/>
                <a:cs typeface="Arial"/>
              </a:defRPr>
            </a:pPr>
            <a:r>
              <a:rPr sz="1725" b="1">
                <a:solidFill>
                  <a:srgbClr val="18382F"/>
                </a:solidFill>
                <a:latin typeface="Arial"/>
                <a:ea typeface="Arial"/>
                <a:cs typeface="Arial"/>
              </a:rPr>
              <a:t>Presentation</a:t>
            </a:r>
          </a:p>
        </p:txBody>
      </p:sp>
      <p:sp>
        <p:nvSpPr>
          <p:cNvPr id="5" name="">
            <a:extLst xmlns:a="http://schemas.openxmlformats.org/drawingml/2006/main">
              <a:ext uri="{FF2B5EF4-FFF2-40B4-BE49-F238E27FC236}">
                <a16:creationId xmlns:a16="http://schemas.microsoft.com/office/drawing/2014/main" id="{1A4690B0-FF6F-4C4A-AE12-AB9CE14B1962}"/>
              </a:ext>
            </a:extLst>
          </p:cNvPr>
          <p:cNvSpPr>
            <a:spLocks xmlns:a="http://schemas.openxmlformats.org/drawingml/2006/main" noGrp="1"/>
          </p:cNvSpPr>
          <p:nvPr/>
        </p:nvSpPr>
        <p:spPr>
          <a:xfrm xmlns:a="http://schemas.openxmlformats.org/drawingml/2006/main">
            <a:off x="781050" y="2819400"/>
            <a:ext cx="28003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HTML / CSS / JavaScript</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Basket and refund previews</a:t>
            </a:r>
          </a:p>
        </p:txBody>
      </p:sp>
      <p:sp>
        <p:nvSpPr>
          <p:cNvPr id="6" name="">
            <a:extLst xmlns:a="http://schemas.openxmlformats.org/drawingml/2006/main">
              <a:ext uri="{FF2B5EF4-FFF2-40B4-BE49-F238E27FC236}">
                <a16:creationId xmlns:a16="http://schemas.microsoft.com/office/drawing/2014/main" id="{633C55E7-7214-41A9-B2C6-7ED3D92E20D4}"/>
              </a:ext>
            </a:extLst>
          </p:cNvPr>
          <p:cNvSpPr>
            <a:spLocks xmlns:a="http://schemas.openxmlformats.org/drawingml/2006/main" noGrp="1"/>
          </p:cNvSpPr>
          <p:nvPr/>
        </p:nvSpPr>
        <p:spPr>
          <a:xfrm xmlns:a="http://schemas.openxmlformats.org/drawingml/2006/main">
            <a:off x="4524375" y="2190750"/>
            <a:ext cx="3143250" cy="1905000"/>
          </a:xfrm>
          <a:prstGeom xmlns:a="http://schemas.openxmlformats.org/drawingml/2006/main" prst="rect">
            <a:avLst/>
          </a:prstGeom>
          <a:solidFill xmlns:a="http://schemas.openxmlformats.org/drawingml/2006/main">
            <a:srgbClr val="EEF3EE"/>
          </a:solidFill>
          <a:ln xmlns:a="http://schemas.openxmlformats.org/drawingml/2006/main" w="11430">
            <a:solidFill>
              <a:srgbClr val="6A8477"/>
            </a:solidFill>
          </a:ln>
        </p:spPr>
      </p:sp>
      <p:sp>
        <p:nvSpPr>
          <p:cNvPr id="7" name="">
            <a:extLst xmlns:a="http://schemas.openxmlformats.org/drawingml/2006/main">
              <a:ext uri="{FF2B5EF4-FFF2-40B4-BE49-F238E27FC236}">
                <a16:creationId xmlns:a16="http://schemas.microsoft.com/office/drawing/2014/main" id="{2F9C48FE-DFEE-4B4C-AC1C-18366C1776D6}"/>
              </a:ext>
            </a:extLst>
          </p:cNvPr>
          <p:cNvSpPr>
            <a:spLocks xmlns:a="http://schemas.openxmlformats.org/drawingml/2006/main" noGrp="1"/>
          </p:cNvSpPr>
          <p:nvPr/>
        </p:nvSpPr>
        <p:spPr>
          <a:xfrm xmlns:a="http://schemas.openxmlformats.org/drawingml/2006/main">
            <a:off x="4695825" y="2343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82F"/>
                </a:solidFill>
                <a:latin typeface="Arial"/>
                <a:ea typeface="Arial"/>
                <a:cs typeface="Arial"/>
              </a:defRPr>
            </a:defPPr>
          </a:lstStyle>
          <a:p xmlns:a="http://schemas.openxmlformats.org/drawingml/2006/main">
            <a:pPr>
              <a:defRPr sz="1725" b="1">
                <a:solidFill>
                  <a:srgbClr val="18382F"/>
                </a:solidFill>
                <a:latin typeface="Arial"/>
                <a:ea typeface="Arial"/>
                <a:cs typeface="Arial"/>
              </a:defRPr>
            </a:pPr>
            <a:r>
              <a:rPr sz="1725" b="1">
                <a:solidFill>
                  <a:srgbClr val="18382F"/>
                </a:solidFill>
                <a:latin typeface="Arial"/>
                <a:ea typeface="Arial"/>
                <a:cs typeface="Arial"/>
              </a:rPr>
              <a:t>Application</a:t>
            </a:r>
          </a:p>
        </p:txBody>
      </p:sp>
      <p:sp>
        <p:nvSpPr>
          <p:cNvPr id="8" name="">
            <a:extLst xmlns:a="http://schemas.openxmlformats.org/drawingml/2006/main">
              <a:ext uri="{FF2B5EF4-FFF2-40B4-BE49-F238E27FC236}">
                <a16:creationId xmlns:a16="http://schemas.microsoft.com/office/drawing/2014/main" id="{676FAA91-5BED-478C-9523-39CC12BE14FA}"/>
              </a:ext>
            </a:extLst>
          </p:cNvPr>
          <p:cNvSpPr>
            <a:spLocks xmlns:a="http://schemas.openxmlformats.org/drawingml/2006/main" noGrp="1"/>
          </p:cNvSpPr>
          <p:nvPr/>
        </p:nvSpPr>
        <p:spPr>
          <a:xfrm xmlns:a="http://schemas.openxmlformats.org/drawingml/2006/main">
            <a:off x="4695825" y="2819400"/>
            <a:ext cx="28003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HTTP Handler</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POSService</a:t>
            </a:r>
          </a:p>
        </p:txBody>
      </p:sp>
      <p:sp>
        <p:nvSpPr>
          <p:cNvPr id="9" name="">
            <a:extLst xmlns:a="http://schemas.openxmlformats.org/drawingml/2006/main">
              <a:ext uri="{FF2B5EF4-FFF2-40B4-BE49-F238E27FC236}">
                <a16:creationId xmlns:a16="http://schemas.microsoft.com/office/drawing/2014/main" id="{DB32FB1C-795E-4875-B315-783E2FE723D3}"/>
              </a:ext>
            </a:extLst>
          </p:cNvPr>
          <p:cNvSpPr>
            <a:spLocks xmlns:a="http://schemas.openxmlformats.org/drawingml/2006/main" noGrp="1"/>
          </p:cNvSpPr>
          <p:nvPr/>
        </p:nvSpPr>
        <p:spPr>
          <a:xfrm xmlns:a="http://schemas.openxmlformats.org/drawingml/2006/main">
            <a:off x="8429625" y="2190750"/>
            <a:ext cx="3143250" cy="1905000"/>
          </a:xfrm>
          <a:prstGeom xmlns:a="http://schemas.openxmlformats.org/drawingml/2006/main" prst="rect">
            <a:avLst/>
          </a:prstGeom>
          <a:solidFill xmlns:a="http://schemas.openxmlformats.org/drawingml/2006/main">
            <a:srgbClr val="EEF3EE"/>
          </a:solidFill>
          <a:ln xmlns:a="http://schemas.openxmlformats.org/drawingml/2006/main" w="11430">
            <a:solidFill>
              <a:srgbClr val="6A8477"/>
            </a:solidFill>
          </a:ln>
        </p:spPr>
      </p:sp>
      <p:sp>
        <p:nvSpPr>
          <p:cNvPr id="10" name="">
            <a:extLst xmlns:a="http://schemas.openxmlformats.org/drawingml/2006/main">
              <a:ext uri="{FF2B5EF4-FFF2-40B4-BE49-F238E27FC236}">
                <a16:creationId xmlns:a16="http://schemas.microsoft.com/office/drawing/2014/main" id="{7171BD43-3266-4BD9-A71A-50783821BF5E}"/>
              </a:ext>
            </a:extLst>
          </p:cNvPr>
          <p:cNvSpPr>
            <a:spLocks xmlns:a="http://schemas.openxmlformats.org/drawingml/2006/main" noGrp="1"/>
          </p:cNvSpPr>
          <p:nvPr/>
        </p:nvSpPr>
        <p:spPr>
          <a:xfrm xmlns:a="http://schemas.openxmlformats.org/drawingml/2006/main">
            <a:off x="8601075" y="2343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82F"/>
                </a:solidFill>
                <a:latin typeface="Arial"/>
                <a:ea typeface="Arial"/>
                <a:cs typeface="Arial"/>
              </a:defRPr>
            </a:defPPr>
          </a:lstStyle>
          <a:p xmlns:a="http://schemas.openxmlformats.org/drawingml/2006/main">
            <a:pPr>
              <a:defRPr sz="1725" b="1">
                <a:solidFill>
                  <a:srgbClr val="18382F"/>
                </a:solidFill>
                <a:latin typeface="Arial"/>
                <a:ea typeface="Arial"/>
                <a:cs typeface="Arial"/>
              </a:defRPr>
            </a:pPr>
            <a:r>
              <a:rPr sz="1725" b="1">
                <a:solidFill>
                  <a:srgbClr val="18382F"/>
                </a:solidFill>
                <a:latin typeface="Arial"/>
                <a:ea typeface="Arial"/>
                <a:cs typeface="Arial"/>
              </a:rPr>
              <a:t>Domain and persistence</a:t>
            </a:r>
          </a:p>
        </p:txBody>
      </p:sp>
      <p:sp>
        <p:nvSpPr>
          <p:cNvPr id="11" name="">
            <a:extLst xmlns:a="http://schemas.openxmlformats.org/drawingml/2006/main">
              <a:ext uri="{FF2B5EF4-FFF2-40B4-BE49-F238E27FC236}">
                <a16:creationId xmlns:a16="http://schemas.microsoft.com/office/drawing/2014/main" id="{7D72F6CD-136C-4BDD-A5DE-13EB3ADBABDC}"/>
              </a:ext>
            </a:extLst>
          </p:cNvPr>
          <p:cNvSpPr>
            <a:spLocks xmlns:a="http://schemas.openxmlformats.org/drawingml/2006/main" noGrp="1"/>
          </p:cNvSpPr>
          <p:nvPr/>
        </p:nvSpPr>
        <p:spPr>
          <a:xfrm xmlns:a="http://schemas.openxmlformats.org/drawingml/2006/main">
            <a:off x="8601075" y="2819400"/>
            <a:ext cx="28003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Sale and CashPayment</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SQLiteRepository</a:t>
            </a:r>
          </a:p>
        </p:txBody>
      </p:sp>
      <p:sp>
        <p:nvSpPr>
          <p:cNvPr id="14" name="">
            <a:extLst xmlns:a="http://schemas.openxmlformats.org/drawingml/2006/main">
              <a:ext uri="{FF2B5EF4-FFF2-40B4-BE49-F238E27FC236}">
                <a16:creationId xmlns:a16="http://schemas.microsoft.com/office/drawing/2014/main" id="{F378EFB5-865F-4FF6-A1AC-F3B18542B035}"/>
              </a:ext>
            </a:extLst>
          </p:cNvPr>
          <p:cNvSpPr>
            <a:spLocks xmlns:a="http://schemas.openxmlformats.org/drawingml/2006/main" noGrp="1"/>
          </p:cNvSpPr>
          <p:nvPr/>
        </p:nvSpPr>
        <p:spPr>
          <a:xfrm xmlns:a="http://schemas.openxmlformats.org/drawingml/2006/main">
            <a:off x="609600" y="49530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2F"/>
                </a:solidFill>
                <a:latin typeface="Arial"/>
                <a:ea typeface="Arial"/>
                <a:cs typeface="Arial"/>
              </a:defRPr>
            </a:defPPr>
          </a:lstStyle>
          <a:p xmlns:a="http://schemas.openxmlformats.org/drawingml/2006/main">
            <a:pPr>
              <a:defRPr sz="2175" b="0">
                <a:solidFill>
                  <a:srgbClr val="18382F"/>
                </a:solidFill>
                <a:latin typeface="Arial"/>
                <a:ea typeface="Arial"/>
                <a:cs typeface="Arial"/>
              </a:defRPr>
            </a:pPr>
            <a:r>
              <a:rPr sz="2175" b="0">
                <a:solidFill>
                  <a:srgbClr val="18382F"/>
                </a:solidFill>
                <a:latin typeface="Arial"/>
                <a:ea typeface="Arial"/>
                <a:cs typeface="Arial"/>
              </a:rPr>
              <a:t>The server rechecks prices, stock and eligibility before committing.</a:t>
            </a:r>
          </a:p>
        </p:txBody>
      </p:sp>
    </p:spTree>
    <p:extLst>
      <p:ext uri="{BB962C8B-B14F-4D97-AF65-F5344CB8AC3E}">
        <p14:creationId xmlns:p14="http://schemas.microsoft.com/office/powerpoint/2010/main" val="39091752"/>
      </p:ext>
    </p:extLst>
  </p:cSld>
</p:sld>
</file>

<file path=ppt/slides/slide6.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CF0F24-A4AF-40EA-8CA5-A5B6334B8E29}"/>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Object responsibilities</a:t>
            </a:r>
          </a:p>
        </p:txBody>
      </p:sp>
      <p:sp>
        <p:nvSpPr>
          <p:cNvPr id="2" name="">
            <a:extLst xmlns:a="http://schemas.openxmlformats.org/drawingml/2006/main">
              <a:ext uri="{FF2B5EF4-FFF2-40B4-BE49-F238E27FC236}">
                <a16:creationId xmlns:a16="http://schemas.microsoft.com/office/drawing/2014/main" id="{4D10A8E1-688D-4036-8011-2478E39753A1}"/>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52D49A1E-C0F6-4A99-A0F9-A7105CC298A0}"/>
              </a:ext>
            </a:extLst>
          </p:cNvPr>
          <p:cNvGraphicFramePr/>
          <p:nvPr/>
        </p:nvGraphicFramePr>
        <p:xfrm>
          <a:off xmlns:a="http://schemas.openxmlformats.org/drawingml/2006/main" x="609600" y="1762125"/>
          <a:ext xmlns:a="http://schemas.openxmlformats.org/drawingml/2006/main" cx="10953750" cy="3429000"/>
        </p:xfrm>
        <a:graphic xmlns:a="http://schemas.openxmlformats.org/drawingml/2006/main">
          <a:graphicData uri="http://schemas.openxmlformats.org/drawingml/2006/table">
            <a:tbl>
              <a:tblPr/>
              <a:tblGrid>
                <a:gridCol w="2952750"/>
                <a:gridCol w="8001000"/>
              </a:tblGrid>
              <a:tr h="685800">
                <a:tc>
                  <a:txBody>
                    <a:bodyPr/>
                    <a:lstStyle/>
                    <a:p>
                      <a:r>
                        <a:rPr sz="1800" b="1">
                          <a:solidFill>
                            <a:srgbClr val="18382F"/>
                          </a:solidFill>
                          <a:latin typeface="Arial"/>
                          <a:ea typeface="Arial"/>
                          <a:cs typeface="Arial"/>
                        </a:rPr>
                        <a:t>Object</a:t>
                      </a:r>
                    </a:p>
                  </a:txBody>
                  <a:tcPr marL="91440" marR="91440" marT="45720" marB="45720">
                    <a:lnL w="9525">
                      <a:solidFill>
                        <a:srgbClr val="D0DCD4"/>
                      </a:solidFill>
                      <a:prstDash val="solid"/>
                    </a:lnL>
                    <a:lnR w="9525">
                      <a:solidFill>
                        <a:srgbClr val="D0DCD4"/>
                      </a:solidFill>
                      <a:prstDash val="solid"/>
                    </a:lnR>
                    <a:lnT w="9525">
                      <a:solidFill>
                        <a:srgbClr val="D0DCD4"/>
                      </a:solidFill>
                      <a:prstDash val="solid"/>
                    </a:lnT>
                    <a:lnB w="9525">
                      <a:solidFill>
                        <a:srgbClr val="D0DCD4"/>
                      </a:solidFill>
                      <a:prstDash val="solid"/>
                    </a:lnB>
                    <a:solidFill>
                      <a:srgbClr val="DCE8DF"/>
                    </a:solidFill>
                  </a:tcPr>
                </a:tc>
                <a:tc>
                  <a:txBody>
                    <a:bodyPr/>
                    <a:lstStyle/>
                    <a:p>
                      <a:r>
                        <a:rPr sz="1800" b="1">
                          <a:solidFill>
                            <a:srgbClr val="18382F"/>
                          </a:solidFill>
                          <a:latin typeface="Arial"/>
                          <a:ea typeface="Arial"/>
                          <a:cs typeface="Arial"/>
                        </a:rPr>
                        <a:t>Responsibility</a:t>
                      </a:r>
                    </a:p>
                  </a:txBody>
                  <a:tcPr marL="91440" marR="91440" marT="45720" marB="45720">
                    <a:lnR w="9525">
                      <a:solidFill>
                        <a:srgbClr val="D0DCD4"/>
                      </a:solidFill>
                      <a:prstDash val="solid"/>
                    </a:lnR>
                    <a:lnT w="9525">
                      <a:solidFill>
                        <a:srgbClr val="D0DCD4"/>
                      </a:solidFill>
                      <a:prstDash val="solid"/>
                    </a:lnT>
                    <a:lnB w="9525">
                      <a:solidFill>
                        <a:srgbClr val="D0DCD4"/>
                      </a:solidFill>
                      <a:prstDash val="solid"/>
                    </a:lnB>
                    <a:solidFill>
                      <a:srgbClr val="DCE8DF"/>
                    </a:solidFill>
                  </a:tcPr>
                </a:tc>
              </a:tr>
              <a:tr h="685800">
                <a:tc>
                  <a:txBody>
                    <a:bodyPr/>
                    <a:lstStyle/>
                    <a:p>
                      <a:r>
                        <a:rPr sz="1800" b="0">
                          <a:solidFill>
                            <a:srgbClr val="18382F"/>
                          </a:solidFill>
                          <a:latin typeface="Arial"/>
                          <a:ea typeface="Arial"/>
                          <a:cs typeface="Arial"/>
                        </a:rPr>
                        <a:t>POSService</a:t>
                      </a:r>
                    </a:p>
                  </a:txBody>
                  <a:tcPr marL="91440" marR="91440" marT="45720" marB="45720">
                    <a:lnL w="9525">
                      <a:solidFill>
                        <a:srgbClr val="D0DCD4"/>
                      </a:solidFill>
                      <a:prstDash val="solid"/>
                    </a:lnL>
                    <a:lnR w="9525">
                      <a:solidFill>
                        <a:srgbClr val="D0DCD4"/>
                      </a:solidFill>
                      <a:prstDash val="solid"/>
                    </a:lnR>
                    <a:lnB w="9525">
                      <a:solidFill>
                        <a:srgbClr val="D0DCD4"/>
                      </a:solidFill>
                      <a:prstDash val="solid"/>
                    </a:lnB>
                    <a:solidFill>
                      <a:srgbClr val="FFFFFF"/>
                    </a:solidFill>
                  </a:tcPr>
                </a:tc>
                <a:tc>
                  <a:txBody>
                    <a:bodyPr/>
                    <a:lstStyle/>
                    <a:p>
                      <a:r>
                        <a:rPr sz="1800" b="0">
                          <a:solidFill>
                            <a:srgbClr val="18382F"/>
                          </a:solidFill>
                          <a:latin typeface="Arial"/>
                          <a:ea typeface="Arial"/>
                          <a:cs typeface="Arial"/>
                        </a:rPr>
                        <a:t>Coordinate checkout and return operations</a:t>
                      </a:r>
                    </a:p>
                  </a:txBody>
                  <a:tcPr marL="91440" marR="91440" marT="45720" marB="45720">
                    <a:lnR w="9525">
                      <a:solidFill>
                        <a:srgbClr val="D0DCD4"/>
                      </a:solidFill>
                      <a:prstDash val="solid"/>
                    </a:lnR>
                    <a:lnB w="9525">
                      <a:solidFill>
                        <a:srgbClr val="D0DCD4"/>
                      </a:solidFill>
                      <a:prstDash val="solid"/>
                    </a:lnB>
                    <a:solidFill>
                      <a:srgbClr val="FFFFFF"/>
                    </a:solidFill>
                  </a:tcPr>
                </a:tc>
              </a:tr>
              <a:tr h="685800">
                <a:tc>
                  <a:txBody>
                    <a:bodyPr/>
                    <a:lstStyle/>
                    <a:p>
                      <a:r>
                        <a:rPr sz="1800" b="0">
                          <a:solidFill>
                            <a:srgbClr val="18382F"/>
                          </a:solidFill>
                          <a:latin typeface="Arial"/>
                          <a:ea typeface="Arial"/>
                          <a:cs typeface="Arial"/>
                        </a:rPr>
                        <a:t>SaleLine and Sale</a:t>
                      </a:r>
                    </a:p>
                  </a:txBody>
                  <a:tcPr marL="91440" marR="91440" marT="45720" marB="45720">
                    <a:lnL w="9525">
                      <a:solidFill>
                        <a:srgbClr val="D0DCD4"/>
                      </a:solidFill>
                      <a:prstDash val="solid"/>
                    </a:lnL>
                    <a:lnR w="9525">
                      <a:solidFill>
                        <a:srgbClr val="D0DCD4"/>
                      </a:solidFill>
                      <a:prstDash val="solid"/>
                    </a:lnR>
                    <a:lnB w="9525">
                      <a:solidFill>
                        <a:srgbClr val="D0DCD4"/>
                      </a:solidFill>
                      <a:prstDash val="solid"/>
                    </a:lnB>
                    <a:solidFill>
                      <a:srgbClr val="FFFFFF"/>
                    </a:solidFill>
                  </a:tcPr>
                </a:tc>
                <a:tc>
                  <a:txBody>
                    <a:bodyPr/>
                    <a:lstStyle/>
                    <a:p>
                      <a:r>
                        <a:rPr sz="1800" b="0">
                          <a:solidFill>
                            <a:srgbClr val="18382F"/>
                          </a:solidFill>
                          <a:latin typeface="Arial"/>
                          <a:ea typeface="Arial"/>
                          <a:cs typeface="Arial"/>
                        </a:rPr>
                        <a:t>Calculate subtotals and total from integer cents</a:t>
                      </a:r>
                    </a:p>
                  </a:txBody>
                  <a:tcPr marL="91440" marR="91440" marT="45720" marB="45720">
                    <a:lnR w="9525">
                      <a:solidFill>
                        <a:srgbClr val="D0DCD4"/>
                      </a:solidFill>
                      <a:prstDash val="solid"/>
                    </a:lnR>
                    <a:lnB w="9525">
                      <a:solidFill>
                        <a:srgbClr val="D0DCD4"/>
                      </a:solidFill>
                      <a:prstDash val="solid"/>
                    </a:lnB>
                    <a:solidFill>
                      <a:srgbClr val="FFFFFF"/>
                    </a:solidFill>
                  </a:tcPr>
                </a:tc>
              </a:tr>
              <a:tr h="685800">
                <a:tc>
                  <a:txBody>
                    <a:bodyPr/>
                    <a:lstStyle/>
                    <a:p>
                      <a:r>
                        <a:rPr sz="1800" b="0">
                          <a:solidFill>
                            <a:srgbClr val="18382F"/>
                          </a:solidFill>
                          <a:latin typeface="Arial"/>
                          <a:ea typeface="Arial"/>
                          <a:cs typeface="Arial"/>
                        </a:rPr>
                        <a:t>CashPayment</a:t>
                      </a:r>
                    </a:p>
                  </a:txBody>
                  <a:tcPr marL="91440" marR="91440" marT="45720" marB="45720">
                    <a:lnL w="9525">
                      <a:solidFill>
                        <a:srgbClr val="D0DCD4"/>
                      </a:solidFill>
                      <a:prstDash val="solid"/>
                    </a:lnL>
                    <a:lnR w="9525">
                      <a:solidFill>
                        <a:srgbClr val="D0DCD4"/>
                      </a:solidFill>
                      <a:prstDash val="solid"/>
                    </a:lnR>
                    <a:lnB w="9525">
                      <a:solidFill>
                        <a:srgbClr val="D0DCD4"/>
                      </a:solidFill>
                      <a:prstDash val="solid"/>
                    </a:lnB>
                    <a:solidFill>
                      <a:srgbClr val="FFFFFF"/>
                    </a:solidFill>
                  </a:tcPr>
                </a:tc>
                <a:tc>
                  <a:txBody>
                    <a:bodyPr/>
                    <a:lstStyle/>
                    <a:p>
                      <a:r>
                        <a:rPr sz="1800" b="0">
                          <a:solidFill>
                            <a:srgbClr val="18382F"/>
                          </a:solidFill>
                          <a:latin typeface="Arial"/>
                          <a:ea typeface="Arial"/>
                          <a:cs typeface="Arial"/>
                        </a:rPr>
                        <a:t>Validate cash and calculate change</a:t>
                      </a:r>
                    </a:p>
                  </a:txBody>
                  <a:tcPr marL="91440" marR="91440" marT="45720" marB="45720">
                    <a:lnR w="9525">
                      <a:solidFill>
                        <a:srgbClr val="D0DCD4"/>
                      </a:solidFill>
                      <a:prstDash val="solid"/>
                    </a:lnR>
                    <a:lnB w="9525">
                      <a:solidFill>
                        <a:srgbClr val="D0DCD4"/>
                      </a:solidFill>
                      <a:prstDash val="solid"/>
                    </a:lnB>
                    <a:solidFill>
                      <a:srgbClr val="FFFFFF"/>
                    </a:solidFill>
                  </a:tcPr>
                </a:tc>
              </a:tr>
              <a:tr h="685800">
                <a:tc>
                  <a:txBody>
                    <a:bodyPr/>
                    <a:lstStyle/>
                    <a:p>
                      <a:r>
                        <a:rPr sz="1800" b="0">
                          <a:solidFill>
                            <a:srgbClr val="18382F"/>
                          </a:solidFill>
                          <a:latin typeface="Arial"/>
                          <a:ea typeface="Arial"/>
                          <a:cs typeface="Arial"/>
                        </a:rPr>
                        <a:t>SQLiteRepository</a:t>
                      </a:r>
                    </a:p>
                  </a:txBody>
                  <a:tcPr marL="91440" marR="91440" marT="45720" marB="45720">
                    <a:lnL w="9525">
                      <a:solidFill>
                        <a:srgbClr val="D0DCD4"/>
                      </a:solidFill>
                      <a:prstDash val="solid"/>
                    </a:lnL>
                    <a:lnR w="9525">
                      <a:solidFill>
                        <a:srgbClr val="D0DCD4"/>
                      </a:solidFill>
                      <a:prstDash val="solid"/>
                    </a:lnR>
                    <a:lnB w="9525">
                      <a:solidFill>
                        <a:srgbClr val="D0DCD4"/>
                      </a:solidFill>
                      <a:prstDash val="solid"/>
                    </a:lnB>
                    <a:solidFill>
                      <a:srgbClr val="FFFFFF"/>
                    </a:solidFill>
                  </a:tcPr>
                </a:tc>
                <a:tc>
                  <a:txBody>
                    <a:bodyPr/>
                    <a:lstStyle/>
                    <a:p>
                      <a:r>
                        <a:rPr sz="1800" b="0">
                          <a:solidFill>
                            <a:srgbClr val="18382F"/>
                          </a:solidFill>
                          <a:latin typeface="Arial"/>
                          <a:ea typeface="Arial"/>
                          <a:cs typeface="Arial"/>
                        </a:rPr>
                        <a:t>Provide transaction scope and stored records</a:t>
                      </a:r>
                    </a:p>
                  </a:txBody>
                  <a:tcPr marL="91440" marR="91440" marT="45720" marB="45720">
                    <a:lnR w="9525">
                      <a:solidFill>
                        <a:srgbClr val="D0DCD4"/>
                      </a:solidFill>
                      <a:prstDash val="solid"/>
                    </a:lnR>
                    <a:lnB w="9525">
                      <a:solidFill>
                        <a:srgbClr val="D0DCD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2C0133A-ADFE-45EB-9A21-5FB87C2C10A2}"/>
              </a:ext>
            </a:extLst>
          </p:cNvPr>
          <p:cNvSpPr>
            <a:spLocks xmlns:a="http://schemas.openxmlformats.org/drawingml/2006/main" noGrp="1"/>
          </p:cNvSpPr>
          <p:nvPr/>
        </p:nvSpPr>
        <p:spPr>
          <a:xfrm xmlns:a="http://schemas.openxmlformats.org/drawingml/2006/main">
            <a:off x="609600" y="56197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269"/>
                </a:solidFill>
                <a:latin typeface="Arial"/>
                <a:ea typeface="Arial"/>
                <a:cs typeface="Arial"/>
              </a:defRPr>
            </a:defPPr>
          </a:lstStyle>
          <a:p xmlns:a="http://schemas.openxmlformats.org/drawingml/2006/main">
            <a:pPr>
              <a:defRPr sz="1725" b="0">
                <a:solidFill>
                  <a:srgbClr val="607269"/>
                </a:solidFill>
                <a:latin typeface="Arial"/>
                <a:ea typeface="Arial"/>
                <a:cs typeface="Arial"/>
              </a:defRPr>
            </a:pPr>
            <a:r>
              <a:rPr sz="1725" b="0">
                <a:solidFill>
                  <a:srgbClr val="607269"/>
                </a:solidFill>
                <a:latin typeface="Arial"/>
                <a:ea typeface="Arial"/>
                <a:cs typeface="Arial"/>
              </a:rPr>
              <a:t>Focused responsibilities keep HTTP formatting separate from transaction rules.</a:t>
            </a:r>
          </a:p>
        </p:txBody>
      </p:sp>
    </p:spTree>
    <p:extLst>
      <p:ext uri="{BB962C8B-B14F-4D97-AF65-F5344CB8AC3E}">
        <p14:creationId xmlns:p14="http://schemas.microsoft.com/office/powerpoint/2010/main" val="835850424"/>
      </p:ext>
    </p:extLst>
  </p:cSld>
</p:sld>
</file>

<file path=ppt/slides/slide7.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728E80-57DB-4FA5-9318-46DF33144C66}"/>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Cash sale demonstration</a:t>
            </a:r>
          </a:p>
        </p:txBody>
      </p:sp>
      <p:sp>
        <p:nvSpPr>
          <p:cNvPr id="2" name="">
            <a:extLst xmlns:a="http://schemas.openxmlformats.org/drawingml/2006/main">
              <a:ext uri="{FF2B5EF4-FFF2-40B4-BE49-F238E27FC236}">
                <a16:creationId xmlns:a16="http://schemas.microsoft.com/office/drawing/2014/main" id="{4FF97830-FA7D-446F-BC3B-333695D24300}"/>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178D33F0-D39F-40FE-95BF-F6DD9BF975F6}"/>
              </a:ext>
            </a:extLst>
          </p:cNvPr>
          <p:cNvPicPr>
            <a:picLocks xmlns:a="http://schemas.openxmlformats.org/drawingml/2006/main" noChangeAspect="1"/>
          </p:cNvPicPr>
          <p:nvPr/>
        </p:nvPicPr>
        <p:blipFill>
          <a:blip xmlns:r="http://schemas.openxmlformats.org/officeDocument/2006/relationships" xmlns:a="http://schemas.openxmlformats.org/drawingml/2006/main" r:embed="R76db7fb63c734d71"/>
          <a:stretch xmlns:a="http://schemas.openxmlformats.org/drawingml/2006/main"/>
        </p:blipFill>
        <p:spPr>
          <a:xfrm xmlns:a="http://schemas.openxmlformats.org/drawingml/2006/main">
            <a:off x="924891" y="1381125"/>
            <a:ext cx="7351369" cy="5048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774C97-8372-4C47-93D7-EECE63D2A83C}"/>
              </a:ext>
            </a:extLst>
          </p:cNvPr>
          <p:cNvSpPr>
            <a:spLocks xmlns:a="http://schemas.openxmlformats.org/drawingml/2006/main" noGrp="1"/>
          </p:cNvSpPr>
          <p:nvPr/>
        </p:nvSpPr>
        <p:spPr>
          <a:xfrm xmlns:a="http://schemas.openxmlformats.org/drawingml/2006/main">
            <a:off x="9144000" y="2000250"/>
            <a:ext cx="2571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82F"/>
                </a:solidFill>
                <a:latin typeface="Arial"/>
                <a:ea typeface="Arial"/>
                <a:cs typeface="Arial"/>
              </a:defRPr>
            </a:defPPr>
          </a:lstStyle>
          <a:p xmlns:a="http://schemas.openxmlformats.org/drawingml/2006/main">
            <a:pPr>
              <a:defRPr sz="2100" b="1">
                <a:solidFill>
                  <a:srgbClr val="18382F"/>
                </a:solidFill>
                <a:latin typeface="Arial"/>
                <a:ea typeface="Arial"/>
                <a:cs typeface="Arial"/>
              </a:defRPr>
            </a:pPr>
            <a:r>
              <a:rPr sz="2100" b="1">
                <a:solidFill>
                  <a:srgbClr val="18382F"/>
                </a:solidFill>
                <a:latin typeface="Arial"/>
                <a:ea typeface="Arial"/>
                <a:cs typeface="Arial"/>
              </a:rPr>
              <a:t>2 × Milk   €5.00</a:t>
            </a:r>
          </a:p>
          <a:p xmlns:a="http://schemas.openxmlformats.org/drawingml/2006/main">
            <a:pPr>
              <a:defRPr sz="2100" b="1">
                <a:solidFill>
                  <a:srgbClr val="18382F"/>
                </a:solidFill>
                <a:latin typeface="Arial"/>
                <a:ea typeface="Arial"/>
                <a:cs typeface="Arial"/>
              </a:defRPr>
            </a:pPr>
            <a:r>
              <a:rPr sz="2100" b="1">
                <a:solidFill>
                  <a:srgbClr val="18382F"/>
                </a:solidFill>
                <a:latin typeface="Arial"/>
                <a:ea typeface="Arial"/>
                <a:cs typeface="Arial"/>
              </a:rPr>
              <a:t>1 × Bread  €3.20</a:t>
            </a:r>
          </a:p>
          <a:p xmlns:a="http://schemas.openxmlformats.org/drawingml/2006/main">
            <a:r>
              <a:t/>
            </a:r>
          </a:p>
          <a:p xmlns:a="http://schemas.openxmlformats.org/drawingml/2006/main">
            <a:pPr>
              <a:defRPr sz="2100" b="1">
                <a:solidFill>
                  <a:srgbClr val="18382F"/>
                </a:solidFill>
                <a:latin typeface="Arial"/>
                <a:ea typeface="Arial"/>
                <a:cs typeface="Arial"/>
              </a:defRPr>
            </a:pPr>
            <a:r>
              <a:rPr sz="2100" b="1">
                <a:solidFill>
                  <a:srgbClr val="18382F"/>
                </a:solidFill>
                <a:latin typeface="Arial"/>
                <a:ea typeface="Arial"/>
                <a:cs typeface="Arial"/>
              </a:rPr>
              <a:t>Total       €8.20</a:t>
            </a:r>
          </a:p>
          <a:p xmlns:a="http://schemas.openxmlformats.org/drawingml/2006/main">
            <a:pPr>
              <a:defRPr sz="2100" b="1">
                <a:solidFill>
                  <a:srgbClr val="18382F"/>
                </a:solidFill>
                <a:latin typeface="Arial"/>
                <a:ea typeface="Arial"/>
                <a:cs typeface="Arial"/>
              </a:defRPr>
            </a:pPr>
            <a:r>
              <a:rPr sz="2100" b="1">
                <a:solidFill>
                  <a:srgbClr val="18382F"/>
                </a:solidFill>
                <a:latin typeface="Arial"/>
                <a:ea typeface="Arial"/>
                <a:cs typeface="Arial"/>
              </a:rPr>
              <a:t>Cash      €10.00</a:t>
            </a:r>
          </a:p>
          <a:p xmlns:a="http://schemas.openxmlformats.org/drawingml/2006/main">
            <a:pPr>
              <a:defRPr sz="2100" b="1">
                <a:solidFill>
                  <a:srgbClr val="18382F"/>
                </a:solidFill>
                <a:latin typeface="Arial"/>
                <a:ea typeface="Arial"/>
                <a:cs typeface="Arial"/>
              </a:defRPr>
            </a:pPr>
            <a:r>
              <a:rPr sz="2100" b="1">
                <a:solidFill>
                  <a:srgbClr val="18382F"/>
                </a:solidFill>
                <a:latin typeface="Arial"/>
                <a:ea typeface="Arial"/>
                <a:cs typeface="Arial"/>
              </a:rPr>
              <a:t>Change    €1.80</a:t>
            </a:r>
          </a:p>
        </p:txBody>
      </p:sp>
    </p:spTree>
    <p:extLst>
      <p:ext uri="{BB962C8B-B14F-4D97-AF65-F5344CB8AC3E}">
        <p14:creationId xmlns:p14="http://schemas.microsoft.com/office/powerpoint/2010/main" val="1386051777"/>
      </p:ext>
    </p:extLst>
  </p:cSld>
</p:sld>
</file>

<file path=ppt/slides/slide8.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C0C1E1-1C6A-4106-8E91-AA9145DAD94E}"/>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Return demonstration</a:t>
            </a:r>
          </a:p>
        </p:txBody>
      </p:sp>
      <p:sp>
        <p:nvSpPr>
          <p:cNvPr id="2" name="">
            <a:extLst xmlns:a="http://schemas.openxmlformats.org/drawingml/2006/main">
              <a:ext uri="{FF2B5EF4-FFF2-40B4-BE49-F238E27FC236}">
                <a16:creationId xmlns:a16="http://schemas.microsoft.com/office/drawing/2014/main" id="{89EF6B69-1659-49BD-B85D-136C9F614502}"/>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D52ADB35-3A6A-4801-9879-F45546F3CD21}"/>
              </a:ext>
            </a:extLst>
          </p:cNvPr>
          <p:cNvPicPr>
            <a:picLocks xmlns:a="http://schemas.openxmlformats.org/drawingml/2006/main" noChangeAspect="1"/>
          </p:cNvPicPr>
          <p:nvPr/>
        </p:nvPicPr>
        <p:blipFill>
          <a:blip xmlns:r="http://schemas.openxmlformats.org/officeDocument/2006/relationships" xmlns:a="http://schemas.openxmlformats.org/drawingml/2006/main" r:embed="R43244bedb9f6451c"/>
          <a:stretch xmlns:a="http://schemas.openxmlformats.org/drawingml/2006/main"/>
        </p:blipFill>
        <p:spPr>
          <a:xfrm xmlns:a="http://schemas.openxmlformats.org/drawingml/2006/main">
            <a:off x="1921482" y="1381125"/>
            <a:ext cx="5548685" cy="5048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60B3BDC-C130-4A38-BA3A-F841D8B12041}"/>
              </a:ext>
            </a:extLst>
          </p:cNvPr>
          <p:cNvSpPr>
            <a:spLocks xmlns:a="http://schemas.openxmlformats.org/drawingml/2006/main" noGrp="1"/>
          </p:cNvSpPr>
          <p:nvPr/>
        </p:nvSpPr>
        <p:spPr>
          <a:xfrm xmlns:a="http://schemas.openxmlformats.org/drawingml/2006/main">
            <a:off x="9144000" y="1857375"/>
            <a:ext cx="257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82F"/>
                </a:solidFill>
                <a:latin typeface="Arial"/>
                <a:ea typeface="Arial"/>
                <a:cs typeface="Arial"/>
              </a:defRPr>
            </a:defPPr>
          </a:lstStyle>
          <a:p xmlns:a="http://schemas.openxmlformats.org/drawingml/2006/main">
            <a:pPr>
              <a:defRPr sz="2025" b="1">
                <a:solidFill>
                  <a:srgbClr val="18382F"/>
                </a:solidFill>
                <a:latin typeface="Arial"/>
                <a:ea typeface="Arial"/>
                <a:cs typeface="Arial"/>
              </a:defRPr>
            </a:pPr>
            <a:r>
              <a:rPr sz="2025" b="1">
                <a:solidFill>
                  <a:srgbClr val="18382F"/>
                </a:solidFill>
                <a:latin typeface="Arial"/>
                <a:ea typeface="Arial"/>
                <a:cs typeface="Arial"/>
              </a:rPr>
              <a:t>Original price</a:t>
            </a:r>
          </a:p>
          <a:p xmlns:a="http://schemas.openxmlformats.org/drawingml/2006/main">
            <a:pPr>
              <a:defRPr sz="2025" b="1">
                <a:solidFill>
                  <a:srgbClr val="18382F"/>
                </a:solidFill>
                <a:latin typeface="Arial"/>
                <a:ea typeface="Arial"/>
                <a:cs typeface="Arial"/>
              </a:defRPr>
            </a:pPr>
            <a:r>
              <a:rPr sz="2025" b="1">
                <a:solidFill>
                  <a:srgbClr val="18382F"/>
                </a:solidFill>
                <a:latin typeface="Arial"/>
                <a:ea typeface="Arial"/>
                <a:cs typeface="Arial"/>
              </a:rPr>
              <a:t>€2.50 per unit</a:t>
            </a:r>
          </a:p>
          <a:p xmlns:a="http://schemas.openxmlformats.org/drawingml/2006/main">
            <a:r>
              <a:t/>
            </a:r>
          </a:p>
          <a:p xmlns:a="http://schemas.openxmlformats.org/drawingml/2006/main">
            <a:pPr>
              <a:defRPr sz="2025" b="1">
                <a:solidFill>
                  <a:srgbClr val="18382F"/>
                </a:solidFill>
                <a:latin typeface="Arial"/>
                <a:ea typeface="Arial"/>
                <a:cs typeface="Arial"/>
              </a:defRPr>
            </a:pPr>
            <a:r>
              <a:rPr sz="2025" b="1">
                <a:solidFill>
                  <a:srgbClr val="18382F"/>
                </a:solidFill>
                <a:latin typeface="Arial"/>
                <a:ea typeface="Arial"/>
                <a:cs typeface="Arial"/>
              </a:rPr>
              <a:t>One unit returned</a:t>
            </a:r>
          </a:p>
          <a:p xmlns:a="http://schemas.openxmlformats.org/drawingml/2006/main">
            <a:pPr>
              <a:defRPr sz="2025" b="1">
                <a:solidFill>
                  <a:srgbClr val="18382F"/>
                </a:solidFill>
                <a:latin typeface="Arial"/>
                <a:ea typeface="Arial"/>
                <a:cs typeface="Arial"/>
              </a:defRPr>
            </a:pPr>
            <a:r>
              <a:rPr sz="2025" b="1">
                <a:solidFill>
                  <a:srgbClr val="18382F"/>
                </a:solidFill>
                <a:latin typeface="Arial"/>
                <a:ea typeface="Arial"/>
                <a:cs typeface="Arial"/>
              </a:rPr>
              <a:t>€2.50 refund</a:t>
            </a:r>
          </a:p>
          <a:p xmlns:a="http://schemas.openxmlformats.org/drawingml/2006/main">
            <a:r>
              <a:t/>
            </a:r>
          </a:p>
          <a:p xmlns:a="http://schemas.openxmlformats.org/drawingml/2006/main">
            <a:pPr>
              <a:defRPr sz="2025" b="1">
                <a:solidFill>
                  <a:srgbClr val="18382F"/>
                </a:solidFill>
                <a:latin typeface="Arial"/>
                <a:ea typeface="Arial"/>
                <a:cs typeface="Arial"/>
              </a:defRPr>
            </a:pPr>
            <a:r>
              <a:rPr sz="2025" b="1">
                <a:solidFill>
                  <a:srgbClr val="18382F"/>
                </a:solidFill>
                <a:latin typeface="Arial"/>
                <a:ea typeface="Arial"/>
                <a:cs typeface="Arial"/>
              </a:rPr>
              <a:t>Milk stock</a:t>
            </a:r>
          </a:p>
          <a:p xmlns:a="http://schemas.openxmlformats.org/drawingml/2006/main">
            <a:pPr>
              <a:defRPr sz="2025" b="1">
                <a:solidFill>
                  <a:srgbClr val="18382F"/>
                </a:solidFill>
                <a:latin typeface="Arial"/>
                <a:ea typeface="Arial"/>
                <a:cs typeface="Arial"/>
              </a:defRPr>
            </a:pPr>
            <a:r>
              <a:rPr sz="2025" b="1">
                <a:solidFill>
                  <a:srgbClr val="18382F"/>
                </a:solidFill>
                <a:latin typeface="Arial"/>
                <a:ea typeface="Arial"/>
                <a:cs typeface="Arial"/>
              </a:rPr>
              <a:t>38 becomes 39</a:t>
            </a:r>
          </a:p>
        </p:txBody>
      </p:sp>
    </p:spTree>
    <p:extLst>
      <p:ext uri="{BB962C8B-B14F-4D97-AF65-F5344CB8AC3E}">
        <p14:creationId xmlns:p14="http://schemas.microsoft.com/office/powerpoint/2010/main" val="883668911"/>
      </p:ext>
    </p:extLst>
  </p:cSld>
</p:sld>
</file>

<file path=ppt/slides/slide9.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19FD7296-5482-4113-B0B9-13A03A95E10C}"/>
              </a:ext>
            </a:extLst>
          </p:cNvPr>
          <p:cNvCxnSpPr>
            <a:stCxn xmlns:a="http://schemas.openxmlformats.org/drawingml/2006/main" id="7" idx="3"/>
            <a:endCxn xmlns:a="http://schemas.openxmlformats.org/drawingml/2006/main" id="10" idx="1"/>
          </p:cNvCxnSpPr>
          <p:nvPr/>
        </p:nvCxnSpPr>
        <p:spPr>
          <a:xfrm xmlns:a="http://schemas.openxmlformats.org/drawingml/2006/main">
            <a:off x="7667625" y="3571875"/>
            <a:ext cx="762000" cy="0"/>
          </a:xfrm>
          <a:prstGeom xmlns:a="http://schemas.openxmlformats.org/drawingml/2006/main" prst="straightConnector1">
            <a:avLst/>
          </a:prstGeom>
          <a:ln xmlns:a="http://schemas.openxmlformats.org/drawingml/2006/main" w="19050">
            <a:solidFill>
              <a:srgbClr val="17634E"/>
            </a:solidFill>
            <a:tailEnd type="arrow" w="med" len="med"/>
          </a:ln>
        </p:spPr>
      </p:cxnSp>
      <p:cxnSp>
        <p:nvCxnSpPr>
          <p:cNvPr id="13" name="">
            <a:extLst xmlns:a="http://schemas.openxmlformats.org/drawingml/2006/main">
              <a:ext uri="{FF2B5EF4-FFF2-40B4-BE49-F238E27FC236}">
                <a16:creationId xmlns:a16="http://schemas.microsoft.com/office/drawing/2014/main" id="{28CDFBC7-10D8-46D1-87A7-28B19F4D3711}"/>
              </a:ext>
            </a:extLst>
          </p:cNvPr>
          <p:cNvCxnSpPr>
            <a:stCxn xmlns:a="http://schemas.openxmlformats.org/drawingml/2006/main" id="4" idx="3"/>
            <a:endCxn xmlns:a="http://schemas.openxmlformats.org/drawingml/2006/main" id="7" idx="1"/>
          </p:cNvCxnSpPr>
          <p:nvPr/>
        </p:nvCxnSpPr>
        <p:spPr>
          <a:xfrm xmlns:a="http://schemas.openxmlformats.org/drawingml/2006/main">
            <a:off x="3752850" y="3571875"/>
            <a:ext cx="771525" cy="0"/>
          </a:xfrm>
          <a:prstGeom xmlns:a="http://schemas.openxmlformats.org/drawingml/2006/main" prst="straightConnector1">
            <a:avLst/>
          </a:prstGeom>
          <a:ln xmlns:a="http://schemas.openxmlformats.org/drawingml/2006/main" w="19050">
            <a:solidFill>
              <a:srgbClr val="17634E"/>
            </a:solidFill>
            <a:tailEnd type="arrow" w="med" len="med"/>
          </a:ln>
        </p:spPr>
      </p:cxnSp>
      <p:sp>
        <p:nvSpPr>
          <p:cNvPr id="16" name="">
            <a:extLst xmlns:a="http://schemas.openxmlformats.org/drawingml/2006/main">
              <a:ext uri="{FF2B5EF4-FFF2-40B4-BE49-F238E27FC236}">
                <a16:creationId xmlns:a16="http://schemas.microsoft.com/office/drawing/2014/main" id="{1E759D60-18F8-44F1-A4EE-E874B0424A41}"/>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Transaction consistency</a:t>
            </a:r>
          </a:p>
        </p:txBody>
      </p:sp>
      <p:sp>
        <p:nvSpPr>
          <p:cNvPr id="2" name="">
            <a:extLst xmlns:a="http://schemas.openxmlformats.org/drawingml/2006/main">
              <a:ext uri="{FF2B5EF4-FFF2-40B4-BE49-F238E27FC236}">
                <a16:creationId xmlns:a16="http://schemas.microsoft.com/office/drawing/2014/main" id="{DE94DA64-C892-42E6-A3E4-87AB872F9B63}"/>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5A87CA4A-D81F-4C9D-A6D9-D72ADDDBBBC6}"/>
              </a:ext>
            </a:extLst>
          </p:cNvPr>
          <p:cNvSpPr>
            <a:spLocks xmlns:a="http://schemas.openxmlformats.org/drawingml/2006/main" noGrp="1"/>
          </p:cNvSpPr>
          <p:nvPr/>
        </p:nvSpPr>
        <p:spPr>
          <a:xfrm xmlns:a="http://schemas.openxmlformats.org/drawingml/2006/main">
            <a:off x="609600" y="1666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82F"/>
                </a:solidFill>
                <a:latin typeface="Arial"/>
                <a:ea typeface="Arial"/>
                <a:cs typeface="Arial"/>
              </a:defRPr>
            </a:defPPr>
          </a:lstStyle>
          <a:p xmlns:a="http://schemas.openxmlformats.org/drawingml/2006/main">
            <a:pPr>
              <a:defRPr sz="2325" b="1">
                <a:solidFill>
                  <a:srgbClr val="18382F"/>
                </a:solidFill>
                <a:latin typeface="Arial"/>
                <a:ea typeface="Arial"/>
                <a:cs typeface="Arial"/>
              </a:defRPr>
            </a:pPr>
            <a:r>
              <a:rPr sz="2325" b="1">
                <a:solidFill>
                  <a:srgbClr val="18382F"/>
                </a:solidFill>
                <a:latin typeface="Arial"/>
                <a:ea typeface="Arial"/>
                <a:cs typeface="Arial"/>
              </a:rPr>
              <a:t>One transaction per use case</a:t>
            </a:r>
          </a:p>
        </p:txBody>
      </p:sp>
      <p:sp>
        <p:nvSpPr>
          <p:cNvPr id="4" name="">
            <a:extLst xmlns:a="http://schemas.openxmlformats.org/drawingml/2006/main">
              <a:ext uri="{FF2B5EF4-FFF2-40B4-BE49-F238E27FC236}">
                <a16:creationId xmlns:a16="http://schemas.microsoft.com/office/drawing/2014/main" id="{75568EBB-7ECF-45AF-9D1C-5C8BD5FFE907}"/>
              </a:ext>
            </a:extLst>
          </p:cNvPr>
          <p:cNvSpPr>
            <a:spLocks xmlns:a="http://schemas.openxmlformats.org/drawingml/2006/main" noGrp="1"/>
          </p:cNvSpPr>
          <p:nvPr/>
        </p:nvSpPr>
        <p:spPr>
          <a:xfrm xmlns:a="http://schemas.openxmlformats.org/drawingml/2006/main">
            <a:off x="609600" y="2809875"/>
            <a:ext cx="3143250" cy="1524000"/>
          </a:xfrm>
          <a:prstGeom xmlns:a="http://schemas.openxmlformats.org/drawingml/2006/main" prst="rect">
            <a:avLst/>
          </a:prstGeom>
          <a:solidFill xmlns:a="http://schemas.openxmlformats.org/drawingml/2006/main">
            <a:srgbClr val="EEF3EE"/>
          </a:solidFill>
          <a:ln xmlns:a="http://schemas.openxmlformats.org/drawingml/2006/main" w="11430">
            <a:solidFill>
              <a:srgbClr val="6A8477"/>
            </a:solidFill>
          </a:ln>
        </p:spPr>
      </p:sp>
      <p:sp>
        <p:nvSpPr>
          <p:cNvPr id="5" name="">
            <a:extLst xmlns:a="http://schemas.openxmlformats.org/drawingml/2006/main">
              <a:ext uri="{FF2B5EF4-FFF2-40B4-BE49-F238E27FC236}">
                <a16:creationId xmlns:a16="http://schemas.microsoft.com/office/drawing/2014/main" id="{E7A2BE67-423F-4D43-B867-52C9FC087760}"/>
              </a:ext>
            </a:extLst>
          </p:cNvPr>
          <p:cNvSpPr>
            <a:spLocks xmlns:a="http://schemas.openxmlformats.org/drawingml/2006/main" noGrp="1"/>
          </p:cNvSpPr>
          <p:nvPr/>
        </p:nvSpPr>
        <p:spPr>
          <a:xfrm xmlns:a="http://schemas.openxmlformats.org/drawingml/2006/main">
            <a:off x="781050" y="29622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82F"/>
                </a:solidFill>
                <a:latin typeface="Arial"/>
                <a:ea typeface="Arial"/>
                <a:cs typeface="Arial"/>
              </a:defRPr>
            </a:defPPr>
          </a:lstStyle>
          <a:p xmlns:a="http://schemas.openxmlformats.org/drawingml/2006/main">
            <a:pPr>
              <a:defRPr sz="1725" b="1">
                <a:solidFill>
                  <a:srgbClr val="18382F"/>
                </a:solidFill>
                <a:latin typeface="Arial"/>
                <a:ea typeface="Arial"/>
                <a:cs typeface="Arial"/>
              </a:defRPr>
            </a:pPr>
            <a:r>
              <a:rPr sz="1725" b="1">
                <a:solidFill>
                  <a:srgbClr val="18382F"/>
                </a:solidFill>
                <a:latin typeface="Arial"/>
                <a:ea typeface="Arial"/>
                <a:cs typeface="Arial"/>
              </a:rPr>
              <a:t>Validate</a:t>
            </a:r>
          </a:p>
        </p:txBody>
      </p:sp>
      <p:sp>
        <p:nvSpPr>
          <p:cNvPr id="6" name="">
            <a:extLst xmlns:a="http://schemas.openxmlformats.org/drawingml/2006/main">
              <a:ext uri="{FF2B5EF4-FFF2-40B4-BE49-F238E27FC236}">
                <a16:creationId xmlns:a16="http://schemas.microsoft.com/office/drawing/2014/main" id="{6C888DD7-54E1-430A-8898-3E8349D10575}"/>
              </a:ext>
            </a:extLst>
          </p:cNvPr>
          <p:cNvSpPr>
            <a:spLocks xmlns:a="http://schemas.openxmlformats.org/drawingml/2006/main" noGrp="1"/>
          </p:cNvSpPr>
          <p:nvPr/>
        </p:nvSpPr>
        <p:spPr>
          <a:xfrm xmlns:a="http://schemas.openxmlformats.org/drawingml/2006/main">
            <a:off x="781050" y="3438525"/>
            <a:ext cx="2800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Read authoritative stock</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Check returnable quantity</a:t>
            </a:r>
          </a:p>
        </p:txBody>
      </p:sp>
      <p:sp>
        <p:nvSpPr>
          <p:cNvPr id="7" name="">
            <a:extLst xmlns:a="http://schemas.openxmlformats.org/drawingml/2006/main">
              <a:ext uri="{FF2B5EF4-FFF2-40B4-BE49-F238E27FC236}">
                <a16:creationId xmlns:a16="http://schemas.microsoft.com/office/drawing/2014/main" id="{8185A768-8204-47AC-BF80-566DA9A17B3A}"/>
              </a:ext>
            </a:extLst>
          </p:cNvPr>
          <p:cNvSpPr>
            <a:spLocks xmlns:a="http://schemas.openxmlformats.org/drawingml/2006/main" noGrp="1"/>
          </p:cNvSpPr>
          <p:nvPr/>
        </p:nvSpPr>
        <p:spPr>
          <a:xfrm xmlns:a="http://schemas.openxmlformats.org/drawingml/2006/main">
            <a:off x="4524375" y="2809875"/>
            <a:ext cx="3143250" cy="1524000"/>
          </a:xfrm>
          <a:prstGeom xmlns:a="http://schemas.openxmlformats.org/drawingml/2006/main" prst="rect">
            <a:avLst/>
          </a:prstGeom>
          <a:solidFill xmlns:a="http://schemas.openxmlformats.org/drawingml/2006/main">
            <a:srgbClr val="EEF3EE"/>
          </a:solidFill>
          <a:ln xmlns:a="http://schemas.openxmlformats.org/drawingml/2006/main" w="11430">
            <a:solidFill>
              <a:srgbClr val="6A8477"/>
            </a:solidFill>
          </a:ln>
        </p:spPr>
      </p:sp>
      <p:sp>
        <p:nvSpPr>
          <p:cNvPr id="8" name="">
            <a:extLst xmlns:a="http://schemas.openxmlformats.org/drawingml/2006/main">
              <a:ext uri="{FF2B5EF4-FFF2-40B4-BE49-F238E27FC236}">
                <a16:creationId xmlns:a16="http://schemas.microsoft.com/office/drawing/2014/main" id="{92453E23-0FE9-4D27-AA81-72A12199C660}"/>
              </a:ext>
            </a:extLst>
          </p:cNvPr>
          <p:cNvSpPr>
            <a:spLocks xmlns:a="http://schemas.openxmlformats.org/drawingml/2006/main" noGrp="1"/>
          </p:cNvSpPr>
          <p:nvPr/>
        </p:nvSpPr>
        <p:spPr>
          <a:xfrm xmlns:a="http://schemas.openxmlformats.org/drawingml/2006/main">
            <a:off x="4695825" y="29622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82F"/>
                </a:solidFill>
                <a:latin typeface="Arial"/>
                <a:ea typeface="Arial"/>
                <a:cs typeface="Arial"/>
              </a:defRPr>
            </a:defPPr>
          </a:lstStyle>
          <a:p xmlns:a="http://schemas.openxmlformats.org/drawingml/2006/main">
            <a:pPr>
              <a:defRPr sz="1725" b="1">
                <a:solidFill>
                  <a:srgbClr val="18382F"/>
                </a:solidFill>
                <a:latin typeface="Arial"/>
                <a:ea typeface="Arial"/>
                <a:cs typeface="Arial"/>
              </a:defRPr>
            </a:pPr>
            <a:r>
              <a:rPr sz="1725" b="1">
                <a:solidFill>
                  <a:srgbClr val="18382F"/>
                </a:solidFill>
                <a:latin typeface="Arial"/>
                <a:ea typeface="Arial"/>
                <a:cs typeface="Arial"/>
              </a:rPr>
              <a:t>Write</a:t>
            </a:r>
          </a:p>
        </p:txBody>
      </p:sp>
      <p:sp>
        <p:nvSpPr>
          <p:cNvPr id="9" name="">
            <a:extLst xmlns:a="http://schemas.openxmlformats.org/drawingml/2006/main">
              <a:ext uri="{FF2B5EF4-FFF2-40B4-BE49-F238E27FC236}">
                <a16:creationId xmlns:a16="http://schemas.microsoft.com/office/drawing/2014/main" id="{23CED9E4-947B-422C-90CF-354C75078B2B}"/>
              </a:ext>
            </a:extLst>
          </p:cNvPr>
          <p:cNvSpPr>
            <a:spLocks xmlns:a="http://schemas.openxmlformats.org/drawingml/2006/main" noGrp="1"/>
          </p:cNvSpPr>
          <p:nvPr/>
        </p:nvSpPr>
        <p:spPr>
          <a:xfrm xmlns:a="http://schemas.openxmlformats.org/drawingml/2006/main">
            <a:off x="4695825" y="3438525"/>
            <a:ext cx="2800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Receipt and item records</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Stock and request token</a:t>
            </a:r>
          </a:p>
        </p:txBody>
      </p:sp>
      <p:sp>
        <p:nvSpPr>
          <p:cNvPr id="10" name="">
            <a:extLst xmlns:a="http://schemas.openxmlformats.org/drawingml/2006/main">
              <a:ext uri="{FF2B5EF4-FFF2-40B4-BE49-F238E27FC236}">
                <a16:creationId xmlns:a16="http://schemas.microsoft.com/office/drawing/2014/main" id="{1A93EC68-3C6D-4D47-8FF2-06A57B081589}"/>
              </a:ext>
            </a:extLst>
          </p:cNvPr>
          <p:cNvSpPr>
            <a:spLocks xmlns:a="http://schemas.openxmlformats.org/drawingml/2006/main" noGrp="1"/>
          </p:cNvSpPr>
          <p:nvPr/>
        </p:nvSpPr>
        <p:spPr>
          <a:xfrm xmlns:a="http://schemas.openxmlformats.org/drawingml/2006/main">
            <a:off x="8429625" y="2809875"/>
            <a:ext cx="3143250" cy="1524000"/>
          </a:xfrm>
          <a:prstGeom xmlns:a="http://schemas.openxmlformats.org/drawingml/2006/main" prst="rect">
            <a:avLst/>
          </a:prstGeom>
          <a:solidFill xmlns:a="http://schemas.openxmlformats.org/drawingml/2006/main">
            <a:srgbClr val="EEF3EE"/>
          </a:solidFill>
          <a:ln xmlns:a="http://schemas.openxmlformats.org/drawingml/2006/main" w="11430">
            <a:solidFill>
              <a:srgbClr val="6A8477"/>
            </a:solidFill>
          </a:ln>
        </p:spPr>
      </p:sp>
      <p:sp>
        <p:nvSpPr>
          <p:cNvPr id="11" name="">
            <a:extLst xmlns:a="http://schemas.openxmlformats.org/drawingml/2006/main">
              <a:ext uri="{FF2B5EF4-FFF2-40B4-BE49-F238E27FC236}">
                <a16:creationId xmlns:a16="http://schemas.microsoft.com/office/drawing/2014/main" id="{8961E65C-1265-4AFE-ABB7-DB7A475C376D}"/>
              </a:ext>
            </a:extLst>
          </p:cNvPr>
          <p:cNvSpPr>
            <a:spLocks xmlns:a="http://schemas.openxmlformats.org/drawingml/2006/main" noGrp="1"/>
          </p:cNvSpPr>
          <p:nvPr/>
        </p:nvSpPr>
        <p:spPr>
          <a:xfrm xmlns:a="http://schemas.openxmlformats.org/drawingml/2006/main">
            <a:off x="8601075" y="29622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82F"/>
                </a:solidFill>
                <a:latin typeface="Arial"/>
                <a:ea typeface="Arial"/>
                <a:cs typeface="Arial"/>
              </a:defRPr>
            </a:defPPr>
          </a:lstStyle>
          <a:p xmlns:a="http://schemas.openxmlformats.org/drawingml/2006/main">
            <a:pPr>
              <a:defRPr sz="1725" b="1">
                <a:solidFill>
                  <a:srgbClr val="18382F"/>
                </a:solidFill>
                <a:latin typeface="Arial"/>
                <a:ea typeface="Arial"/>
                <a:cs typeface="Arial"/>
              </a:defRPr>
            </a:pPr>
            <a:r>
              <a:rPr sz="1725" b="1">
                <a:solidFill>
                  <a:srgbClr val="18382F"/>
                </a:solidFill>
                <a:latin typeface="Arial"/>
                <a:ea typeface="Arial"/>
                <a:cs typeface="Arial"/>
              </a:rPr>
              <a:t>Commit</a:t>
            </a:r>
          </a:p>
        </p:txBody>
      </p:sp>
      <p:sp>
        <p:nvSpPr>
          <p:cNvPr id="12" name="">
            <a:extLst xmlns:a="http://schemas.openxmlformats.org/drawingml/2006/main">
              <a:ext uri="{FF2B5EF4-FFF2-40B4-BE49-F238E27FC236}">
                <a16:creationId xmlns:a16="http://schemas.microsoft.com/office/drawing/2014/main" id="{5448EAAB-FB08-41C5-83A8-50D745C958AA}"/>
              </a:ext>
            </a:extLst>
          </p:cNvPr>
          <p:cNvSpPr>
            <a:spLocks xmlns:a="http://schemas.openxmlformats.org/drawingml/2006/main" noGrp="1"/>
          </p:cNvSpPr>
          <p:nvPr/>
        </p:nvSpPr>
        <p:spPr>
          <a:xfrm xmlns:a="http://schemas.openxmlformats.org/drawingml/2006/main">
            <a:off x="8601075" y="3438525"/>
            <a:ext cx="2800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8382F"/>
                </a:solidFill>
                <a:latin typeface="Arial"/>
                <a:ea typeface="Arial"/>
                <a:cs typeface="Arial"/>
              </a:defRPr>
            </a:defPPr>
          </a:lstStyle>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All changes succeed</a:t>
            </a:r>
          </a:p>
          <a:p xmlns:a="http://schemas.openxmlformats.org/drawingml/2006/main">
            <a:pPr>
              <a:defRPr sz="1500" b="0">
                <a:solidFill>
                  <a:srgbClr val="18382F"/>
                </a:solidFill>
                <a:latin typeface="Arial"/>
                <a:ea typeface="Arial"/>
                <a:cs typeface="Arial"/>
              </a:defRPr>
            </a:pPr>
            <a:r>
              <a:rPr sz="1500" b="0">
                <a:solidFill>
                  <a:srgbClr val="18382F"/>
                </a:solidFill>
                <a:latin typeface="Arial"/>
                <a:ea typeface="Arial"/>
                <a:cs typeface="Arial"/>
              </a:rPr>
              <a:t>Errors roll back all writes</a:t>
            </a:r>
          </a:p>
        </p:txBody>
      </p:sp>
      <p:sp>
        <p:nvSpPr>
          <p:cNvPr id="15" name="">
            <a:extLst xmlns:a="http://schemas.openxmlformats.org/drawingml/2006/main">
              <a:ext uri="{FF2B5EF4-FFF2-40B4-BE49-F238E27FC236}">
                <a16:creationId xmlns:a16="http://schemas.microsoft.com/office/drawing/2014/main" id="{5A00C631-01D4-4C6B-BE15-5657C77740A6}"/>
              </a:ext>
            </a:extLst>
          </p:cNvPr>
          <p:cNvSpPr>
            <a:spLocks xmlns:a="http://schemas.openxmlformats.org/drawingml/2006/main" noGrp="1"/>
          </p:cNvSpPr>
          <p:nvPr/>
        </p:nvSpPr>
        <p:spPr>
          <a:xfrm xmlns:a="http://schemas.openxmlformats.org/drawingml/2006/main">
            <a:off x="609600" y="5095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82F"/>
                </a:solidFill>
                <a:latin typeface="Arial"/>
                <a:ea typeface="Arial"/>
                <a:cs typeface="Arial"/>
              </a:defRPr>
            </a:defPPr>
          </a:lstStyle>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Repeated request tokens prevent duplicate sales and refunds.</a:t>
            </a:r>
          </a:p>
        </p:txBody>
      </p:sp>
    </p:spTree>
    <p:extLst>
      <p:ext uri="{BB962C8B-B14F-4D97-AF65-F5344CB8AC3E}">
        <p14:creationId xmlns:p14="http://schemas.microsoft.com/office/powerpoint/2010/main" val="703878559"/>
      </p:ext>
    </p:extLst>
  </p:cSld>
</p:sld>
</file>

<file path=ppt/slides/slide10.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930956-0B7A-447A-B02A-79FA885E7A1F}"/>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Verification results</a:t>
            </a:r>
          </a:p>
        </p:txBody>
      </p:sp>
      <p:sp>
        <p:nvSpPr>
          <p:cNvPr id="2" name="">
            <a:extLst xmlns:a="http://schemas.openxmlformats.org/drawingml/2006/main">
              <a:ext uri="{FF2B5EF4-FFF2-40B4-BE49-F238E27FC236}">
                <a16:creationId xmlns:a16="http://schemas.microsoft.com/office/drawing/2014/main" id="{5D9B8C43-2B8B-4B53-A966-A690A87C60DE}"/>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766A4146-A075-4053-AD82-F705B0FE9985}"/>
              </a:ext>
            </a:extLst>
          </p:cNvPr>
          <p:cNvSpPr>
            <a:spLocks xmlns:a="http://schemas.openxmlformats.org/drawingml/2006/main" noGrp="1"/>
          </p:cNvSpPr>
          <p:nvPr/>
        </p:nvSpPr>
        <p:spPr>
          <a:xfrm xmlns:a="http://schemas.openxmlformats.org/drawingml/2006/main">
            <a:off x="609600" y="1809750"/>
            <a:ext cx="3333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375" b="1">
                <a:solidFill>
                  <a:srgbClr val="17634E"/>
                </a:solidFill>
                <a:latin typeface="Arial"/>
                <a:ea typeface="Arial"/>
                <a:cs typeface="Arial"/>
              </a:defRPr>
            </a:defPPr>
          </a:lstStyle>
          <a:p xmlns:a="http://schemas.openxmlformats.org/drawingml/2006/main">
            <a:pPr>
              <a:defRPr sz="9375" b="1">
                <a:solidFill>
                  <a:srgbClr val="17634E"/>
                </a:solidFill>
                <a:latin typeface="Arial"/>
                <a:ea typeface="Arial"/>
                <a:cs typeface="Arial"/>
              </a:defRPr>
            </a:pPr>
            <a:r>
              <a:rPr sz="9375" b="1">
                <a:solidFill>
                  <a:srgbClr val="17634E"/>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C5C4F010-DF28-42E4-8CE2-02AB3F5C7650}"/>
              </a:ext>
            </a:extLst>
          </p:cNvPr>
          <p:cNvSpPr>
            <a:spLocks xmlns:a="http://schemas.openxmlformats.org/drawingml/2006/main" noGrp="1"/>
          </p:cNvSpPr>
          <p:nvPr/>
        </p:nvSpPr>
        <p:spPr>
          <a:xfrm xmlns:a="http://schemas.openxmlformats.org/drawingml/2006/main">
            <a:off x="609600" y="3619500"/>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82F"/>
                </a:solidFill>
                <a:latin typeface="Arial"/>
                <a:ea typeface="Arial"/>
                <a:cs typeface="Arial"/>
              </a:defRPr>
            </a:defPPr>
          </a:lstStyle>
          <a:p xmlns:a="http://schemas.openxmlformats.org/drawingml/2006/main">
            <a:pPr>
              <a:defRPr sz="2250" b="1">
                <a:solidFill>
                  <a:srgbClr val="18382F"/>
                </a:solidFill>
                <a:latin typeface="Arial"/>
                <a:ea typeface="Arial"/>
                <a:cs typeface="Arial"/>
              </a:defRPr>
            </a:pPr>
            <a:r>
              <a:rPr sz="2250" b="1">
                <a:solidFill>
                  <a:srgbClr val="18382F"/>
                </a:solidFill>
                <a:latin typeface="Arial"/>
                <a:ea typeface="Arial"/>
                <a:cs typeface="Arial"/>
              </a:rPr>
              <a:t>automated tests passed</a:t>
            </a:r>
          </a:p>
        </p:txBody>
      </p:sp>
      <p:sp>
        <p:nvSpPr>
          <p:cNvPr id="5" name="">
            <a:extLst xmlns:a="http://schemas.openxmlformats.org/drawingml/2006/main">
              <a:ext uri="{FF2B5EF4-FFF2-40B4-BE49-F238E27FC236}">
                <a16:creationId xmlns:a16="http://schemas.microsoft.com/office/drawing/2014/main" id="{B76731C6-9F99-4B99-86B8-C02A25A8F0B4}"/>
              </a:ext>
            </a:extLst>
          </p:cNvPr>
          <p:cNvSpPr>
            <a:spLocks xmlns:a="http://schemas.openxmlformats.org/drawingml/2006/main" noGrp="1"/>
          </p:cNvSpPr>
          <p:nvPr/>
        </p:nvSpPr>
        <p:spPr>
          <a:xfrm xmlns:a="http://schemas.openxmlformats.org/drawingml/2006/main">
            <a:off x="5238750" y="1809750"/>
            <a:ext cx="6286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82F"/>
                </a:solidFill>
                <a:latin typeface="Arial"/>
                <a:ea typeface="Arial"/>
                <a:cs typeface="Arial"/>
              </a:defRPr>
            </a:defPPr>
          </a:lstStyle>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Exact money and stock changes</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Invalid input and insufficient payment</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Partial and original-price refunds</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Idempotent retries</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Concurrent sale and return protection</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Persistence and HTTP behavior</a:t>
            </a:r>
          </a:p>
        </p:txBody>
      </p:sp>
      <p:sp>
        <p:nvSpPr>
          <p:cNvPr id="6" name="">
            <a:extLst xmlns:a="http://schemas.openxmlformats.org/drawingml/2006/main">
              <a:ext uri="{FF2B5EF4-FFF2-40B4-BE49-F238E27FC236}">
                <a16:creationId xmlns:a16="http://schemas.microsoft.com/office/drawing/2014/main" id="{5235E7AE-27E4-4191-8F33-52EE1BDAD6BD}"/>
              </a:ext>
            </a:extLst>
          </p:cNvPr>
          <p:cNvSpPr>
            <a:spLocks xmlns:a="http://schemas.openxmlformats.org/drawingml/2006/main" noGrp="1"/>
          </p:cNvSpPr>
          <p:nvPr/>
        </p:nvSpPr>
        <p:spPr>
          <a:xfrm xmlns:a="http://schemas.openxmlformats.org/drawingml/2006/main">
            <a:off x="609600" y="57150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269"/>
                </a:solidFill>
                <a:latin typeface="Arial"/>
                <a:ea typeface="Arial"/>
                <a:cs typeface="Arial"/>
              </a:defRPr>
            </a:defPPr>
          </a:lstStyle>
          <a:p xmlns:a="http://schemas.openxmlformats.org/drawingml/2006/main">
            <a:pPr>
              <a:defRPr sz="1650" b="0">
                <a:solidFill>
                  <a:srgbClr val="607269"/>
                </a:solidFill>
                <a:latin typeface="Arial"/>
                <a:ea typeface="Arial"/>
                <a:cs typeface="Arial"/>
              </a:defRPr>
            </a:pPr>
            <a:r>
              <a:rPr sz="1650" b="0">
                <a:solidFill>
                  <a:srgbClr val="607269"/>
                </a:solidFill>
                <a:latin typeface="Arial"/>
                <a:ea typeface="Arial"/>
                <a:cs typeface="Arial"/>
              </a:rPr>
              <a:t>Run: python -m unittest discover -s tests -v</a:t>
            </a:r>
          </a:p>
        </p:txBody>
      </p:sp>
    </p:spTree>
    <p:extLst>
      <p:ext uri="{BB962C8B-B14F-4D97-AF65-F5344CB8AC3E}">
        <p14:creationId xmlns:p14="http://schemas.microsoft.com/office/powerpoint/2010/main" val="2007598292"/>
      </p:ext>
    </p:extLst>
  </p:cSld>
</p:sld>
</file>

<file path=ppt/slides/slide11.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4C935E-08F8-4546-AF97-C8B7BA96F8BD}"/>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Recorded sales and refunds</a:t>
            </a:r>
          </a:p>
        </p:txBody>
      </p:sp>
      <p:sp>
        <p:nvSpPr>
          <p:cNvPr id="2" name="">
            <a:extLst xmlns:a="http://schemas.openxmlformats.org/drawingml/2006/main">
              <a:ext uri="{FF2B5EF4-FFF2-40B4-BE49-F238E27FC236}">
                <a16:creationId xmlns:a16="http://schemas.microsoft.com/office/drawing/2014/main" id="{75EB2CA8-21E2-4EA2-8FFD-AABC5D3421E2}"/>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0B10F6C5-F789-44C6-A089-77CE2C2DBDFC}"/>
              </a:ext>
            </a:extLst>
          </p:cNvPr>
          <p:cNvPicPr>
            <a:picLocks xmlns:a="http://schemas.openxmlformats.org/drawingml/2006/main" noChangeAspect="1"/>
          </p:cNvPicPr>
          <p:nvPr/>
        </p:nvPicPr>
        <p:blipFill>
          <a:blip xmlns:r="http://schemas.openxmlformats.org/officeDocument/2006/relationships" xmlns:a="http://schemas.openxmlformats.org/drawingml/2006/main" r:embed="Raa1f3dcf0e21404d"/>
          <a:stretch xmlns:a="http://schemas.openxmlformats.org/drawingml/2006/main"/>
        </p:blipFill>
        <p:spPr>
          <a:xfrm xmlns:a="http://schemas.openxmlformats.org/drawingml/2006/main">
            <a:off x="2453837" y="1476375"/>
            <a:ext cx="7265276"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8028FFC-5607-479B-9852-2BE9158A32BF}"/>
              </a:ext>
            </a:extLst>
          </p:cNvPr>
          <p:cNvSpPr>
            <a:spLocks xmlns:a="http://schemas.openxmlformats.org/drawingml/2006/main" noGrp="1"/>
          </p:cNvSpPr>
          <p:nvPr/>
        </p:nvSpPr>
        <p:spPr>
          <a:xfrm xmlns:a="http://schemas.openxmlformats.org/drawingml/2006/main">
            <a:off x="609600" y="59055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82F"/>
                </a:solidFill>
                <a:latin typeface="Arial"/>
                <a:ea typeface="Arial"/>
                <a:cs typeface="Arial"/>
              </a:defRPr>
            </a:defPPr>
          </a:lstStyle>
          <a:p xmlns:a="http://schemas.openxmlformats.org/drawingml/2006/main">
            <a:pPr>
              <a:defRPr sz="2025" b="1">
                <a:solidFill>
                  <a:srgbClr val="18382F"/>
                </a:solidFill>
                <a:latin typeface="Arial"/>
                <a:ea typeface="Arial"/>
                <a:cs typeface="Arial"/>
              </a:defRPr>
            </a:pPr>
            <a:r>
              <a:rPr sz="2025" b="1">
                <a:solidFill>
                  <a:srgbClr val="18382F"/>
                </a:solidFill>
                <a:latin typeface="Arial"/>
                <a:ea typeface="Arial"/>
                <a:cs typeface="Arial"/>
              </a:rPr>
              <a:t>€8.20 gross sales − €2.50 refunds = €5.70 net sales</a:t>
            </a:r>
          </a:p>
        </p:txBody>
      </p:sp>
    </p:spTree>
    <p:extLst>
      <p:ext uri="{BB962C8B-B14F-4D97-AF65-F5344CB8AC3E}">
        <p14:creationId xmlns:p14="http://schemas.microsoft.com/office/powerpoint/2010/main" val="1378103576"/>
      </p:ext>
    </p:extLst>
  </p:cSld>
</p:sld>
</file>

<file path=ppt/slides/slide12.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9FEB0D-B486-4D92-974A-F1E5960ED2EF}"/>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2F"/>
                </a:solidFill>
                <a:latin typeface="Arial"/>
                <a:ea typeface="Arial"/>
                <a:cs typeface="Arial"/>
              </a:defRPr>
            </a:defPPr>
          </a:lstStyle>
          <a:p xmlns:a="http://schemas.openxmlformats.org/drawingml/2006/main">
            <a:pPr>
              <a:defRPr sz="3000" b="1">
                <a:solidFill>
                  <a:srgbClr val="18382F"/>
                </a:solidFill>
                <a:latin typeface="Arial"/>
                <a:ea typeface="Arial"/>
                <a:cs typeface="Arial"/>
              </a:defRPr>
            </a:pPr>
            <a:r>
              <a:rPr sz="3000" b="1">
                <a:solidFill>
                  <a:srgbClr val="18382F"/>
                </a:solidFill>
                <a:latin typeface="Arial"/>
                <a:ea typeface="Arial"/>
                <a:cs typeface="Arial"/>
              </a:rPr>
              <a:t>Delivery and future work</a:t>
            </a:r>
          </a:p>
        </p:txBody>
      </p:sp>
      <p:sp>
        <p:nvSpPr>
          <p:cNvPr id="2" name="">
            <a:extLst xmlns:a="http://schemas.openxmlformats.org/drawingml/2006/main">
              <a:ext uri="{FF2B5EF4-FFF2-40B4-BE49-F238E27FC236}">
                <a16:creationId xmlns:a16="http://schemas.microsoft.com/office/drawing/2014/main" id="{2505985F-BA17-4F9C-92A2-D3A61DC75999}"/>
              </a:ext>
            </a:extLst>
          </p:cNvPr>
          <p:cNvSpPr>
            <a:spLocks xmlns:a="http://schemas.openxmlformats.org/drawingml/2006/main" noGrp="1"/>
          </p:cNvSpPr>
          <p:nvPr/>
        </p:nvSpPr>
        <p:spPr>
          <a:xfrm xmlns:a="http://schemas.openxmlformats.org/drawingml/2006/main">
            <a:off x="11191875" y="6286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7269"/>
                </a:solidFill>
                <a:latin typeface="Arial"/>
                <a:ea typeface="Arial"/>
                <a:cs typeface="Arial"/>
              </a:defRPr>
            </a:defPPr>
          </a:lstStyle>
          <a:p xmlns:a="http://schemas.openxmlformats.org/drawingml/2006/main">
            <a:pPr>
              <a:defRPr sz="1050" b="0">
                <a:solidFill>
                  <a:srgbClr val="607269"/>
                </a:solidFill>
                <a:latin typeface="Arial"/>
                <a:ea typeface="Arial"/>
                <a:cs typeface="Arial"/>
              </a:defRPr>
            </a:pPr>
            <a:r>
              <a:rPr sz="1050" b="0">
                <a:solidFill>
                  <a:srgbClr val="607269"/>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8CA8CA1C-4A47-46FB-B047-E5D3423221F1}"/>
              </a:ext>
            </a:extLst>
          </p:cNvPr>
          <p:cNvSpPr>
            <a:spLocks xmlns:a="http://schemas.openxmlformats.org/drawingml/2006/main" noGrp="1"/>
          </p:cNvSpPr>
          <p:nvPr/>
        </p:nvSpPr>
        <p:spPr>
          <a:xfrm xmlns:a="http://schemas.openxmlformats.org/drawingml/2006/main">
            <a:off x="609600" y="16668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82F"/>
                </a:solidFill>
                <a:latin typeface="Arial"/>
                <a:ea typeface="Arial"/>
                <a:cs typeface="Arial"/>
              </a:defRPr>
            </a:defPPr>
          </a:lstStyle>
          <a:p xmlns:a="http://schemas.openxmlformats.org/drawingml/2006/main">
            <a:pPr>
              <a:defRPr sz="2250" b="1">
                <a:solidFill>
                  <a:srgbClr val="18382F"/>
                </a:solidFill>
                <a:latin typeface="Arial"/>
                <a:ea typeface="Arial"/>
                <a:cs typeface="Arial"/>
              </a:defRPr>
            </a:pPr>
            <a:r>
              <a:rPr sz="2250" b="1">
                <a:solidFill>
                  <a:srgbClr val="18382F"/>
                </a:solidFill>
                <a:latin typeface="Arial"/>
                <a:ea typeface="Arial"/>
                <a:cs typeface="Arial"/>
              </a:rPr>
              <a:t>Delivered project materials</a:t>
            </a:r>
          </a:p>
        </p:txBody>
      </p:sp>
      <p:sp>
        <p:nvSpPr>
          <p:cNvPr id="4" name="">
            <a:extLst xmlns:a="http://schemas.openxmlformats.org/drawingml/2006/main">
              <a:ext uri="{FF2B5EF4-FFF2-40B4-BE49-F238E27FC236}">
                <a16:creationId xmlns:a16="http://schemas.microsoft.com/office/drawing/2014/main" id="{F4D22B17-A3E3-437D-9D70-9477DC79A08A}"/>
              </a:ext>
            </a:extLst>
          </p:cNvPr>
          <p:cNvSpPr>
            <a:spLocks xmlns:a="http://schemas.openxmlformats.org/drawingml/2006/main" noGrp="1"/>
          </p:cNvSpPr>
          <p:nvPr/>
        </p:nvSpPr>
        <p:spPr>
          <a:xfrm xmlns:a="http://schemas.openxmlformats.org/drawingml/2006/main">
            <a:off x="609600" y="2381250"/>
            <a:ext cx="5238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82F"/>
                </a:solidFill>
                <a:latin typeface="Arial"/>
                <a:ea typeface="Arial"/>
                <a:cs typeface="Arial"/>
              </a:defRPr>
            </a:defPPr>
          </a:lstStyle>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Runnable Python application</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UML analysis and design</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Technical report and Agile workbook</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Tests and demonstration script</a:t>
            </a:r>
          </a:p>
        </p:txBody>
      </p:sp>
      <p:sp>
        <p:nvSpPr>
          <p:cNvPr id="5" name="">
            <a:extLst xmlns:a="http://schemas.openxmlformats.org/drawingml/2006/main">
              <a:ext uri="{FF2B5EF4-FFF2-40B4-BE49-F238E27FC236}">
                <a16:creationId xmlns:a16="http://schemas.microsoft.com/office/drawing/2014/main" id="{83932933-6254-4D19-B666-834706505916}"/>
              </a:ext>
            </a:extLst>
          </p:cNvPr>
          <p:cNvSpPr>
            <a:spLocks xmlns:a="http://schemas.openxmlformats.org/drawingml/2006/main" noGrp="1"/>
          </p:cNvSpPr>
          <p:nvPr/>
        </p:nvSpPr>
        <p:spPr>
          <a:xfrm xmlns:a="http://schemas.openxmlformats.org/drawingml/2006/main">
            <a:off x="6858000" y="16668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82F"/>
                </a:solidFill>
                <a:latin typeface="Arial"/>
                <a:ea typeface="Arial"/>
                <a:cs typeface="Arial"/>
              </a:defRPr>
            </a:defPPr>
          </a:lstStyle>
          <a:p xmlns:a="http://schemas.openxmlformats.org/drawingml/2006/main">
            <a:pPr>
              <a:defRPr sz="2250" b="1">
                <a:solidFill>
                  <a:srgbClr val="18382F"/>
                </a:solidFill>
                <a:latin typeface="Arial"/>
                <a:ea typeface="Arial"/>
                <a:cs typeface="Arial"/>
              </a:defRPr>
            </a:pPr>
            <a:r>
              <a:rPr sz="2250" b="1">
                <a:solidFill>
                  <a:srgbClr val="18382F"/>
                </a:solidFill>
                <a:latin typeface="Arial"/>
                <a:ea typeface="Arial"/>
                <a:cs typeface="Arial"/>
              </a:rPr>
              <a:t>Next steps</a:t>
            </a:r>
          </a:p>
        </p:txBody>
      </p:sp>
      <p:sp>
        <p:nvSpPr>
          <p:cNvPr id="6" name="">
            <a:extLst xmlns:a="http://schemas.openxmlformats.org/drawingml/2006/main">
              <a:ext uri="{FF2B5EF4-FFF2-40B4-BE49-F238E27FC236}">
                <a16:creationId xmlns:a16="http://schemas.microsoft.com/office/drawing/2014/main" id="{1CDCAA6B-FF08-46E4-AF38-165026EC08A9}"/>
              </a:ext>
            </a:extLst>
          </p:cNvPr>
          <p:cNvSpPr>
            <a:spLocks xmlns:a="http://schemas.openxmlformats.org/drawingml/2006/main" noGrp="1"/>
          </p:cNvSpPr>
          <p:nvPr/>
        </p:nvSpPr>
        <p:spPr>
          <a:xfrm xmlns:a="http://schemas.openxmlformats.org/drawingml/2006/main">
            <a:off x="6858000" y="2381250"/>
            <a:ext cx="4667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82F"/>
                </a:solidFill>
                <a:latin typeface="Arial"/>
                <a:ea typeface="Arial"/>
                <a:cs typeface="Arial"/>
              </a:defRPr>
            </a:defPPr>
          </a:lstStyle>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Student review and rehearsal</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Repository publication verification</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English video recording and upload</a:t>
            </a:r>
          </a:p>
          <a:p xmlns:a="http://schemas.openxmlformats.org/drawingml/2006/main">
            <a:pPr>
              <a:defRPr sz="2025" b="0">
                <a:solidFill>
                  <a:srgbClr val="18382F"/>
                </a:solidFill>
                <a:latin typeface="Arial"/>
                <a:ea typeface="Arial"/>
                <a:cs typeface="Arial"/>
              </a:defRPr>
            </a:pPr>
            <a:r>
              <a:rPr sz="2025" b="0">
                <a:solidFill>
                  <a:srgbClr val="18382F"/>
                </a:solidFill>
                <a:latin typeface="Arial"/>
                <a:ea typeface="Arial"/>
                <a:cs typeface="Arial"/>
              </a:rPr>
              <a:t>Final video link in the report</a:t>
            </a:r>
          </a:p>
        </p:txBody>
      </p:sp>
      <p:sp>
        <p:nvSpPr>
          <p:cNvPr id="7" name="">
            <a:extLst xmlns:a="http://schemas.openxmlformats.org/drawingml/2006/main">
              <a:ext uri="{FF2B5EF4-FFF2-40B4-BE49-F238E27FC236}">
                <a16:creationId xmlns:a16="http://schemas.microsoft.com/office/drawing/2014/main" id="{44A6410B-E923-44FC-86BB-F0FE1EFA56CB}"/>
              </a:ext>
            </a:extLst>
          </p:cNvPr>
          <p:cNvSpPr>
            <a:spLocks xmlns:a="http://schemas.openxmlformats.org/drawingml/2006/main" noGrp="1"/>
          </p:cNvSpPr>
          <p:nvPr/>
        </p:nvSpPr>
        <p:spPr>
          <a:xfrm xmlns:a="http://schemas.openxmlformats.org/drawingml/2006/main">
            <a:off x="609600" y="57150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269"/>
                </a:solidFill>
                <a:latin typeface="Arial"/>
                <a:ea typeface="Arial"/>
                <a:cs typeface="Arial"/>
              </a:defRPr>
            </a:defPPr>
          </a:lstStyle>
          <a:p xmlns:a="http://schemas.openxmlformats.org/drawingml/2006/main">
            <a:pPr>
              <a:defRPr sz="1650" b="0">
                <a:solidFill>
                  <a:srgbClr val="607269"/>
                </a:solidFill>
                <a:latin typeface="Arial"/>
                <a:ea typeface="Arial"/>
                <a:cs typeface="Arial"/>
              </a:defRPr>
            </a:pPr>
            <a:r>
              <a:rPr sz="1650" b="0">
                <a:solidFill>
                  <a:srgbClr val="607269"/>
                </a:solidFill>
                <a:latin typeface="Arial"/>
                <a:ea typeface="Arial"/>
                <a:cs typeface="Arial"/>
              </a:rPr>
              <a:t>Future scope: cashier accounts, damaged-goods returns and receipt printers.</a:t>
            </a:r>
          </a:p>
        </p:txBody>
      </p:sp>
    </p:spTree>
    <p:extLst>
      <p:ext uri="{BB962C8B-B14F-4D97-AF65-F5344CB8AC3E}">
        <p14:creationId xmlns:p14="http://schemas.microsoft.com/office/powerpoint/2010/main" val="11374350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2026-10-15T14:41:06.2900000Z</dcterms:created>
  <dcterms:modified xsi:type="dcterms:W3CDTF">2026-10-15T14:41:06.2900000Z</dcterms:modified>
</coreProperties>
</file>